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CC6600"/>
    <a:srgbClr val="FFE701"/>
    <a:srgbClr val="E6E6E6"/>
    <a:srgbClr val="92D050"/>
    <a:srgbClr val="FFFFFF"/>
    <a:srgbClr val="2F5597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84" autoAdjust="0"/>
  </p:normalViewPr>
  <p:slideViewPr>
    <p:cSldViewPr snapToGrid="0">
      <p:cViewPr varScale="1">
        <p:scale>
          <a:sx n="77" d="100"/>
          <a:sy n="77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1B1B22-AFE4-2111-8C77-FD1391844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84310A-2D55-B094-F2D2-1EF9D7F8B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B6F71C-3E08-D8B4-320F-F5DCD606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51A7A2-7FBB-88DD-21BB-6B7E3C03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4B8E0A-41F9-C48D-14AF-136CFB12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56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79CF63-462A-BCC2-6F66-8CC33850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4B7ABC-E330-A33D-ECFF-7819D1EB7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623FB1-FBED-B1F7-A597-09869102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71F2EA-2741-FBAF-A45E-8B36AA22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91BA0E-F86C-124E-EE49-05FD9BE4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77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5A8FBB-E869-F690-ED76-BEA0EEDB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3A8784-9286-E3A9-8A45-BA0EA424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181F6E-C526-7538-590F-0D67CA46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6E6D61-874B-6FF5-5387-F0C5D355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BBE0C5-B408-56C4-D557-0D2A50FF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71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33E60-CC03-577B-C6CC-B9F779DC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2EE097-1F11-E966-D517-98E32136D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52A81E-FE68-7220-1947-0456CE733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1F186E-1033-D270-9D6B-2209B26A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69F3DB-E732-77C0-C030-9FB147C9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209EFC-168D-1573-7830-FBFFE84E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60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8B0EB4-B3DD-9108-2568-E723E72D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2E369A-4677-BC97-6925-369A57814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F1FACC-C451-AD0A-BE6A-0FC6409DC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F55D5A-8469-8ABC-E3B1-09093B780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3CAA5F-3973-31AD-D487-62129E710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862277-3372-FDE9-C703-B6DEA612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2CD7B1-BD43-E063-6B48-EBC8474A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0E8F65B-8DD5-8131-B125-C460019A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23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43B87-2807-1778-A84D-FEC605A6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598816-80C2-968F-6917-8B0901B1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B32C76E-2310-923D-74D7-E1F0A04A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0C8A039-5C4D-04D8-762E-325DE00B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837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D1E677-F564-427E-BD8E-017EDC733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85DA82B-69D7-351F-85CD-2BB4EFCC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57DB72-FFA4-5C0B-EC01-B49F7A5C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923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BD57F9-A01A-2290-A1CB-B01F0BF8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E0D005-2C51-1AEA-F04D-DD1FF6DB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8DF191-FF07-3779-B40B-73F877FA8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59B7BB-A92A-F8F0-B187-9D005EF4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609344-CAC9-8610-1EE9-3E0B948F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BCDA37-5271-64F4-7B13-3914CD1C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41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BF7727-C471-D4D8-EB3B-DC608C8B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63ECE89-7C69-D843-1CEC-FA929E256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F7B0F6-F7E4-E785-F8F1-C0535EBE9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7A0165-D346-0E38-69C4-1D2207BA4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76A355-9054-DDE1-B15C-A07B4859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D03FE4-4E6D-2FCC-4BA3-C7DEABC1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7250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F84464-DA1B-A3CC-41E9-E236606D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E4AAA9-29BF-0677-7511-5098D401B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29098E-1938-4683-3923-5484BA5E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1A7781-6AEA-7310-1BE7-04EA3253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564312-4749-62E8-4954-13E7C18A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123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45D60FA-987F-0C1C-464D-5911EF880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2E62A0-974D-B6D4-9689-0C423E8B6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F85FD9-8B37-EA8B-C7F6-78662817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85CDD9-A4E5-9CA2-ACA6-841C8736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D6F479-D5E9-9F41-06BB-4592849C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21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6C6338-F2B5-B51D-0951-42BDEBD8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F63158-9BEF-E7F5-1CA2-7EE5C8F9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B42A4B-B256-7D18-3527-F85F1379B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712F7-1FAA-40F3-B15A-D42BBEFB4B62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BF364-9DB7-6D47-B4D4-7185874E2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FB0F32-0BA6-7397-83DC-7B82DB6CA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5F240-CAEB-4335-B93E-1487CB68BA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83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F1BAB21-DF47-F9A3-AAD6-5CD828B0F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910" y="3638420"/>
            <a:ext cx="1616108" cy="320800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F5F6E86-7510-8175-EEFA-A9BFD5B7A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21" y="483285"/>
            <a:ext cx="1628214" cy="44912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DB8ACF7-E66A-9830-2007-0C0858EBFA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38" y="541287"/>
            <a:ext cx="2027701" cy="29416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5AF8BD5-C5E4-BAE9-F0C1-E7AD3185D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515" y="2411435"/>
            <a:ext cx="2608773" cy="42490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1ABCACEB-19FF-8939-C799-8B04451864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208" y="410919"/>
            <a:ext cx="1694795" cy="42430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B1849B00-BEF9-7C98-6559-BDF20FF6C8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991" y="433586"/>
            <a:ext cx="1761376" cy="509043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4552D7E-2B7C-C817-131F-083173C4B0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732" y="443243"/>
            <a:ext cx="2688531" cy="182053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9A954692-C97F-7560-78C5-BA29E69496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24" y="382923"/>
            <a:ext cx="1761376" cy="44791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D9B61BA-F9B7-88DF-91B5-C02F4F7B6872}"/>
              </a:ext>
            </a:extLst>
          </p:cNvPr>
          <p:cNvSpPr/>
          <p:nvPr/>
        </p:nvSpPr>
        <p:spPr>
          <a:xfrm>
            <a:off x="310134" y="1478280"/>
            <a:ext cx="539496" cy="838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7BD867C6-68C2-0D8D-E8C3-42A852263F07}"/>
              </a:ext>
            </a:extLst>
          </p:cNvPr>
          <p:cNvSpPr/>
          <p:nvPr/>
        </p:nvSpPr>
        <p:spPr>
          <a:xfrm>
            <a:off x="1836420" y="1910080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D82F323A-B119-E18C-487E-FB4886BCBC06}"/>
              </a:ext>
            </a:extLst>
          </p:cNvPr>
          <p:cNvSpPr/>
          <p:nvPr/>
        </p:nvSpPr>
        <p:spPr>
          <a:xfrm>
            <a:off x="2222500" y="1216660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62BF94D-86BE-3999-1570-4ED83CF21AB1}"/>
              </a:ext>
            </a:extLst>
          </p:cNvPr>
          <p:cNvSpPr/>
          <p:nvPr/>
        </p:nvSpPr>
        <p:spPr>
          <a:xfrm>
            <a:off x="1856740" y="2235200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92D85CF-1C8D-7857-4B4F-08299CB1F489}"/>
              </a:ext>
            </a:extLst>
          </p:cNvPr>
          <p:cNvSpPr/>
          <p:nvPr/>
        </p:nvSpPr>
        <p:spPr>
          <a:xfrm>
            <a:off x="2075180" y="3087116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13AF0B8-9464-7673-2116-60419F91302F}"/>
              </a:ext>
            </a:extLst>
          </p:cNvPr>
          <p:cNvSpPr/>
          <p:nvPr/>
        </p:nvSpPr>
        <p:spPr>
          <a:xfrm>
            <a:off x="1861820" y="2387600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02F01ECE-6625-4CA2-6A65-B810E0654859}"/>
              </a:ext>
            </a:extLst>
          </p:cNvPr>
          <p:cNvSpPr/>
          <p:nvPr/>
        </p:nvSpPr>
        <p:spPr>
          <a:xfrm>
            <a:off x="139954" y="1442974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BFBD919D-1C18-A741-115F-377743D2CEA3}"/>
              </a:ext>
            </a:extLst>
          </p:cNvPr>
          <p:cNvSpPr/>
          <p:nvPr/>
        </p:nvSpPr>
        <p:spPr>
          <a:xfrm>
            <a:off x="120904" y="651764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CB84E68D-4B3A-6B3D-814C-399E2E2DBC0D}"/>
              </a:ext>
            </a:extLst>
          </p:cNvPr>
          <p:cNvSpPr/>
          <p:nvPr/>
        </p:nvSpPr>
        <p:spPr>
          <a:xfrm>
            <a:off x="175768" y="2097024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76C9C068-A2E0-95B8-49B8-B05752045B78}"/>
              </a:ext>
            </a:extLst>
          </p:cNvPr>
          <p:cNvSpPr/>
          <p:nvPr/>
        </p:nvSpPr>
        <p:spPr>
          <a:xfrm>
            <a:off x="175768" y="2276856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9E75DE9E-F0E6-C3C4-12BB-7536E9DB6794}"/>
              </a:ext>
            </a:extLst>
          </p:cNvPr>
          <p:cNvSpPr/>
          <p:nvPr/>
        </p:nvSpPr>
        <p:spPr>
          <a:xfrm>
            <a:off x="331470" y="1383030"/>
            <a:ext cx="872490" cy="9144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DCBD2A65-82DD-A253-A6E1-190D2FA4C965}"/>
              </a:ext>
            </a:extLst>
          </p:cNvPr>
          <p:cNvSpPr/>
          <p:nvPr/>
        </p:nvSpPr>
        <p:spPr>
          <a:xfrm>
            <a:off x="281940" y="605790"/>
            <a:ext cx="830580" cy="27813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47C75E4E-5F2F-6F8D-9D4B-66F9E076C5AC}"/>
              </a:ext>
            </a:extLst>
          </p:cNvPr>
          <p:cNvSpPr/>
          <p:nvPr/>
        </p:nvSpPr>
        <p:spPr>
          <a:xfrm>
            <a:off x="1195324" y="1321562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B24389B3-A407-1FB5-BA99-9D0B78D93908}"/>
              </a:ext>
            </a:extLst>
          </p:cNvPr>
          <p:cNvSpPr/>
          <p:nvPr/>
        </p:nvSpPr>
        <p:spPr>
          <a:xfrm>
            <a:off x="336804" y="2183129"/>
            <a:ext cx="1244346" cy="85725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6A2A9235-FD77-E1DF-6B6A-CE61489B0B30}"/>
              </a:ext>
            </a:extLst>
          </p:cNvPr>
          <p:cNvSpPr/>
          <p:nvPr/>
        </p:nvSpPr>
        <p:spPr>
          <a:xfrm>
            <a:off x="338709" y="2274569"/>
            <a:ext cx="1248156" cy="144781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07619403-742F-728C-6AD7-AFA14D364257}"/>
              </a:ext>
            </a:extLst>
          </p:cNvPr>
          <p:cNvSpPr/>
          <p:nvPr/>
        </p:nvSpPr>
        <p:spPr>
          <a:xfrm>
            <a:off x="2250440" y="3093720"/>
            <a:ext cx="1254760" cy="17526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62CC1EF1-521B-6DBD-A278-40956B03AD69}"/>
              </a:ext>
            </a:extLst>
          </p:cNvPr>
          <p:cNvSpPr/>
          <p:nvPr/>
        </p:nvSpPr>
        <p:spPr>
          <a:xfrm>
            <a:off x="2017014" y="1940560"/>
            <a:ext cx="1411986" cy="1320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04192A81-69E2-1B8E-9F13-A657D32A7E98}"/>
              </a:ext>
            </a:extLst>
          </p:cNvPr>
          <p:cNvSpPr/>
          <p:nvPr/>
        </p:nvSpPr>
        <p:spPr>
          <a:xfrm>
            <a:off x="2397252" y="1219200"/>
            <a:ext cx="1077468" cy="18288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93B0FF54-977A-2512-5006-1E714EE5FBC8}"/>
              </a:ext>
            </a:extLst>
          </p:cNvPr>
          <p:cNvSpPr/>
          <p:nvPr/>
        </p:nvSpPr>
        <p:spPr>
          <a:xfrm>
            <a:off x="2031492" y="2286761"/>
            <a:ext cx="1699260" cy="127255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A8B20DFB-AFCF-7957-20D4-D524EB167057}"/>
              </a:ext>
            </a:extLst>
          </p:cNvPr>
          <p:cNvSpPr/>
          <p:nvPr/>
        </p:nvSpPr>
        <p:spPr>
          <a:xfrm>
            <a:off x="2040254" y="2419349"/>
            <a:ext cx="1701165" cy="114301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7A820AB8-4DA0-F7EF-8A8A-4153251F71F0}"/>
              </a:ext>
            </a:extLst>
          </p:cNvPr>
          <p:cNvSpPr/>
          <p:nvPr/>
        </p:nvSpPr>
        <p:spPr>
          <a:xfrm>
            <a:off x="11207574" y="5295370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3ED7C639-0B49-8754-FD58-C0AFE5422ACB}"/>
              </a:ext>
            </a:extLst>
          </p:cNvPr>
          <p:cNvSpPr/>
          <p:nvPr/>
        </p:nvSpPr>
        <p:spPr>
          <a:xfrm>
            <a:off x="11207574" y="5517544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7D3F5543-AA27-F1AC-E936-0A58E0D59D6D}"/>
              </a:ext>
            </a:extLst>
          </p:cNvPr>
          <p:cNvSpPr/>
          <p:nvPr/>
        </p:nvSpPr>
        <p:spPr>
          <a:xfrm>
            <a:off x="11207574" y="5739718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346C902F-722F-02DB-79BD-7CCC3D96EFCC}"/>
              </a:ext>
            </a:extLst>
          </p:cNvPr>
          <p:cNvSpPr/>
          <p:nvPr/>
        </p:nvSpPr>
        <p:spPr>
          <a:xfrm>
            <a:off x="11207574" y="5961892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C793E308-52E7-8981-896B-4B33637C5ADC}"/>
              </a:ext>
            </a:extLst>
          </p:cNvPr>
          <p:cNvSpPr/>
          <p:nvPr/>
        </p:nvSpPr>
        <p:spPr>
          <a:xfrm>
            <a:off x="11207574" y="6184066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605C7FE1-352E-C0F6-0DAC-7CB1A27B6C88}"/>
              </a:ext>
            </a:extLst>
          </p:cNvPr>
          <p:cNvSpPr/>
          <p:nvPr/>
        </p:nvSpPr>
        <p:spPr>
          <a:xfrm>
            <a:off x="11207574" y="6406239"/>
            <a:ext cx="184912" cy="184912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99679476-9F72-0A79-9F85-9564D3B5ED3B}"/>
              </a:ext>
            </a:extLst>
          </p:cNvPr>
          <p:cNvSpPr/>
          <p:nvPr/>
        </p:nvSpPr>
        <p:spPr>
          <a:xfrm>
            <a:off x="1974835" y="4706060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E638FC7D-20DF-442F-BE1A-9F9CEDAF0508}"/>
              </a:ext>
            </a:extLst>
          </p:cNvPr>
          <p:cNvSpPr/>
          <p:nvPr/>
        </p:nvSpPr>
        <p:spPr>
          <a:xfrm>
            <a:off x="2364979" y="3624528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F487DA08-EA13-D522-649C-A8886C7E359B}"/>
              </a:ext>
            </a:extLst>
          </p:cNvPr>
          <p:cNvSpPr/>
          <p:nvPr/>
        </p:nvSpPr>
        <p:spPr>
          <a:xfrm>
            <a:off x="1981947" y="5464504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93799C6F-F581-F119-F419-19C7D00884E1}"/>
              </a:ext>
            </a:extLst>
          </p:cNvPr>
          <p:cNvSpPr/>
          <p:nvPr/>
        </p:nvSpPr>
        <p:spPr>
          <a:xfrm>
            <a:off x="2162287" y="6534860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23421A08-B567-2D87-96A9-C03D24F071CD}"/>
              </a:ext>
            </a:extLst>
          </p:cNvPr>
          <p:cNvSpPr/>
          <p:nvPr/>
        </p:nvSpPr>
        <p:spPr>
          <a:xfrm>
            <a:off x="4072000" y="993018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7D28C658-FC78-E24A-3356-338F13436724}"/>
              </a:ext>
            </a:extLst>
          </p:cNvPr>
          <p:cNvSpPr/>
          <p:nvPr/>
        </p:nvSpPr>
        <p:spPr>
          <a:xfrm>
            <a:off x="4048632" y="1731142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205937AC-E2E4-6B99-7858-3DF4D06173EB}"/>
              </a:ext>
            </a:extLst>
          </p:cNvPr>
          <p:cNvSpPr/>
          <p:nvPr/>
        </p:nvSpPr>
        <p:spPr>
          <a:xfrm>
            <a:off x="4146168" y="1176914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DF76AE70-A71B-3AEB-1C93-6F93378CD255}"/>
              </a:ext>
            </a:extLst>
          </p:cNvPr>
          <p:cNvSpPr/>
          <p:nvPr/>
        </p:nvSpPr>
        <p:spPr>
          <a:xfrm>
            <a:off x="5950584" y="1265306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04D5241F-D877-81A9-ABEA-D8606FEE799F}"/>
              </a:ext>
            </a:extLst>
          </p:cNvPr>
          <p:cNvSpPr/>
          <p:nvPr/>
        </p:nvSpPr>
        <p:spPr>
          <a:xfrm>
            <a:off x="3926712" y="3321690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22422E4A-C86B-B73E-1910-BB84A7962278}"/>
              </a:ext>
            </a:extLst>
          </p:cNvPr>
          <p:cNvSpPr/>
          <p:nvPr/>
        </p:nvSpPr>
        <p:spPr>
          <a:xfrm>
            <a:off x="3957192" y="2564770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BE51D919-0D31-90C3-9129-A98ADC90E191}"/>
              </a:ext>
            </a:extLst>
          </p:cNvPr>
          <p:cNvSpPr/>
          <p:nvPr/>
        </p:nvSpPr>
        <p:spPr>
          <a:xfrm>
            <a:off x="3987672" y="4849754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A5E4FA96-9180-355A-E730-94F75DAF82BE}"/>
              </a:ext>
            </a:extLst>
          </p:cNvPr>
          <p:cNvSpPr/>
          <p:nvPr/>
        </p:nvSpPr>
        <p:spPr>
          <a:xfrm>
            <a:off x="3941952" y="2945770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F1B568ED-716F-8EAB-B3F8-9F60D910DA2D}"/>
              </a:ext>
            </a:extLst>
          </p:cNvPr>
          <p:cNvSpPr/>
          <p:nvPr/>
        </p:nvSpPr>
        <p:spPr>
          <a:xfrm>
            <a:off x="3919092" y="5918078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2" name="楕円 81">
            <a:extLst>
              <a:ext uri="{FF2B5EF4-FFF2-40B4-BE49-F238E27FC236}">
                <a16:creationId xmlns:a16="http://schemas.microsoft.com/office/drawing/2014/main" id="{B48F22F7-EFBD-6949-C964-50578B52927E}"/>
              </a:ext>
            </a:extLst>
          </p:cNvPr>
          <p:cNvSpPr/>
          <p:nvPr/>
        </p:nvSpPr>
        <p:spPr>
          <a:xfrm>
            <a:off x="6769390" y="2228474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93333D2B-D5B9-2446-74A3-8472BB37CF6B}"/>
              </a:ext>
            </a:extLst>
          </p:cNvPr>
          <p:cNvSpPr/>
          <p:nvPr/>
        </p:nvSpPr>
        <p:spPr>
          <a:xfrm>
            <a:off x="6788694" y="1084966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4" name="楕円 83">
            <a:extLst>
              <a:ext uri="{FF2B5EF4-FFF2-40B4-BE49-F238E27FC236}">
                <a16:creationId xmlns:a16="http://schemas.microsoft.com/office/drawing/2014/main" id="{FAC62DFD-C9F1-12C1-3137-4E279F70A2B0}"/>
              </a:ext>
            </a:extLst>
          </p:cNvPr>
          <p:cNvSpPr/>
          <p:nvPr/>
        </p:nvSpPr>
        <p:spPr>
          <a:xfrm>
            <a:off x="6814094" y="4079626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5" name="楕円 84">
            <a:extLst>
              <a:ext uri="{FF2B5EF4-FFF2-40B4-BE49-F238E27FC236}">
                <a16:creationId xmlns:a16="http://schemas.microsoft.com/office/drawing/2014/main" id="{94916B0B-F4AC-E2E7-ACB8-4319DFF55EC4}"/>
              </a:ext>
            </a:extLst>
          </p:cNvPr>
          <p:cNvSpPr/>
          <p:nvPr/>
        </p:nvSpPr>
        <p:spPr>
          <a:xfrm>
            <a:off x="6793774" y="4820798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6" name="楕円 85">
            <a:extLst>
              <a:ext uri="{FF2B5EF4-FFF2-40B4-BE49-F238E27FC236}">
                <a16:creationId xmlns:a16="http://schemas.microsoft.com/office/drawing/2014/main" id="{740FEE79-AD90-433E-9BB6-3A2D912AD199}"/>
              </a:ext>
            </a:extLst>
          </p:cNvPr>
          <p:cNvSpPr/>
          <p:nvPr/>
        </p:nvSpPr>
        <p:spPr>
          <a:xfrm>
            <a:off x="6777518" y="3818514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8" name="楕円 87">
            <a:extLst>
              <a:ext uri="{FF2B5EF4-FFF2-40B4-BE49-F238E27FC236}">
                <a16:creationId xmlns:a16="http://schemas.microsoft.com/office/drawing/2014/main" id="{3DB5A839-4B9E-4570-9B1B-FE71091C1803}"/>
              </a:ext>
            </a:extLst>
          </p:cNvPr>
          <p:cNvSpPr/>
          <p:nvPr/>
        </p:nvSpPr>
        <p:spPr>
          <a:xfrm>
            <a:off x="8676528" y="1646814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9" name="楕円 88">
            <a:extLst>
              <a:ext uri="{FF2B5EF4-FFF2-40B4-BE49-F238E27FC236}">
                <a16:creationId xmlns:a16="http://schemas.microsoft.com/office/drawing/2014/main" id="{4E521ACF-8273-7E7D-1628-F89ACB21E66A}"/>
              </a:ext>
            </a:extLst>
          </p:cNvPr>
          <p:cNvSpPr/>
          <p:nvPr/>
        </p:nvSpPr>
        <p:spPr>
          <a:xfrm>
            <a:off x="8661288" y="847984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0" name="楕円 89">
            <a:extLst>
              <a:ext uri="{FF2B5EF4-FFF2-40B4-BE49-F238E27FC236}">
                <a16:creationId xmlns:a16="http://schemas.microsoft.com/office/drawing/2014/main" id="{63FC8915-5A45-77DB-0A8B-2C44C1F88E22}"/>
              </a:ext>
            </a:extLst>
          </p:cNvPr>
          <p:cNvSpPr/>
          <p:nvPr/>
        </p:nvSpPr>
        <p:spPr>
          <a:xfrm>
            <a:off x="8661288" y="2536703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1" name="楕円 90">
            <a:extLst>
              <a:ext uri="{FF2B5EF4-FFF2-40B4-BE49-F238E27FC236}">
                <a16:creationId xmlns:a16="http://schemas.microsoft.com/office/drawing/2014/main" id="{9249DDB6-2862-DB72-5157-312877DD0EE6}"/>
              </a:ext>
            </a:extLst>
          </p:cNvPr>
          <p:cNvSpPr/>
          <p:nvPr/>
        </p:nvSpPr>
        <p:spPr>
          <a:xfrm>
            <a:off x="8672718" y="1175644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2" name="楕円 91">
            <a:extLst>
              <a:ext uri="{FF2B5EF4-FFF2-40B4-BE49-F238E27FC236}">
                <a16:creationId xmlns:a16="http://schemas.microsoft.com/office/drawing/2014/main" id="{1390492A-A04E-8B2C-3C42-A04B5A76C8E5}"/>
              </a:ext>
            </a:extLst>
          </p:cNvPr>
          <p:cNvSpPr/>
          <p:nvPr/>
        </p:nvSpPr>
        <p:spPr>
          <a:xfrm>
            <a:off x="8699388" y="2189612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4" name="楕円 93">
            <a:extLst>
              <a:ext uri="{FF2B5EF4-FFF2-40B4-BE49-F238E27FC236}">
                <a16:creationId xmlns:a16="http://schemas.microsoft.com/office/drawing/2014/main" id="{E8C2719C-15A0-7DA1-60A9-29FE93E4F8E8}"/>
              </a:ext>
            </a:extLst>
          </p:cNvPr>
          <p:cNvSpPr/>
          <p:nvPr/>
        </p:nvSpPr>
        <p:spPr>
          <a:xfrm>
            <a:off x="10397346" y="1446154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5" name="楕円 94">
            <a:extLst>
              <a:ext uri="{FF2B5EF4-FFF2-40B4-BE49-F238E27FC236}">
                <a16:creationId xmlns:a16="http://schemas.microsoft.com/office/drawing/2014/main" id="{ECDB15D7-AE75-C782-448F-4560BCB66813}"/>
              </a:ext>
            </a:extLst>
          </p:cNvPr>
          <p:cNvSpPr/>
          <p:nvPr/>
        </p:nvSpPr>
        <p:spPr>
          <a:xfrm>
            <a:off x="10615786" y="1123574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15C00329-AA0A-5CE7-D138-07452EBDD0DA}"/>
              </a:ext>
            </a:extLst>
          </p:cNvPr>
          <p:cNvSpPr/>
          <p:nvPr/>
        </p:nvSpPr>
        <p:spPr>
          <a:xfrm>
            <a:off x="10437986" y="2293498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8F24DDBE-8939-7370-5986-DB84221C01E8}"/>
              </a:ext>
            </a:extLst>
          </p:cNvPr>
          <p:cNvSpPr/>
          <p:nvPr/>
        </p:nvSpPr>
        <p:spPr>
          <a:xfrm>
            <a:off x="10737706" y="3577214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8" name="楕円 97">
            <a:extLst>
              <a:ext uri="{FF2B5EF4-FFF2-40B4-BE49-F238E27FC236}">
                <a16:creationId xmlns:a16="http://schemas.microsoft.com/office/drawing/2014/main" id="{1D656487-56EA-1031-8AF9-DC1C0B03E018}"/>
              </a:ext>
            </a:extLst>
          </p:cNvPr>
          <p:cNvSpPr/>
          <p:nvPr/>
        </p:nvSpPr>
        <p:spPr>
          <a:xfrm>
            <a:off x="10430366" y="2635382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2889EACF-B0D4-E0CF-D60D-54BFA3A6E65D}"/>
              </a:ext>
            </a:extLst>
          </p:cNvPr>
          <p:cNvSpPr/>
          <p:nvPr/>
        </p:nvSpPr>
        <p:spPr>
          <a:xfrm>
            <a:off x="2151126" y="4754880"/>
            <a:ext cx="683514" cy="1158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BE3753FD-7027-A5E8-E83C-20F9BDE5777C}"/>
              </a:ext>
            </a:extLst>
          </p:cNvPr>
          <p:cNvSpPr/>
          <p:nvPr/>
        </p:nvSpPr>
        <p:spPr>
          <a:xfrm>
            <a:off x="2378964" y="3797808"/>
            <a:ext cx="1095756" cy="21336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BF6B9F1B-6029-B585-52AD-DA97C32F663F}"/>
              </a:ext>
            </a:extLst>
          </p:cNvPr>
          <p:cNvGrpSpPr/>
          <p:nvPr/>
        </p:nvGrpSpPr>
        <p:grpSpPr>
          <a:xfrm>
            <a:off x="0" y="5070445"/>
            <a:ext cx="1672761" cy="1787555"/>
            <a:chOff x="-563289" y="3703320"/>
            <a:chExt cx="1672761" cy="1858675"/>
          </a:xfrm>
        </p:grpSpPr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09D52E10-4180-98F8-32AF-1C4EAB07C0EB}"/>
                </a:ext>
              </a:extLst>
            </p:cNvPr>
            <p:cNvSpPr/>
            <p:nvPr/>
          </p:nvSpPr>
          <p:spPr>
            <a:xfrm>
              <a:off x="-563289" y="3703320"/>
              <a:ext cx="1672761" cy="18586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　 日付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店名</a:t>
              </a:r>
              <a:endParaRPr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金</a:t>
              </a:r>
              <a:r>
                <a:rPr kumimoji="1" lang="ja-JP" altLang="en-US" sz="1400" b="1" spc="-300">
                  <a:solidFill>
                    <a:sysClr val="windowText" lastClr="000000"/>
                  </a:solidFill>
                </a:rPr>
                <a:t>額</a:t>
              </a:r>
              <a:r>
                <a:rPr kumimoji="1" lang="ja-JP" altLang="en-US" sz="1400">
                  <a:solidFill>
                    <a:sysClr val="windowText" lastClr="000000"/>
                  </a:solidFill>
                </a:rPr>
                <a:t>（合計額）</a:t>
              </a:r>
              <a:endParaRPr lang="en-US" altLang="ja-JP" sz="1400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インボイス番号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kumimoji="1" lang="en-US" altLang="ja-JP" sz="1000">
                  <a:solidFill>
                    <a:sysClr val="windowText" lastClr="000000"/>
                  </a:solidFill>
                </a:rPr>
                <a:t>--</a:t>
              </a:r>
              <a:r>
                <a:rPr kumimoji="1" lang="ja-JP" altLang="en-US" sz="1000">
                  <a:solidFill>
                    <a:sysClr val="windowText" lastClr="000000"/>
                  </a:solidFill>
                </a:rPr>
                <a:t>（以下、できれば）</a:t>
              </a:r>
              <a:r>
                <a:rPr lang="en-US" altLang="ja-JP" sz="1000">
                  <a:solidFill>
                    <a:sysClr val="windowText" lastClr="000000"/>
                  </a:solidFill>
                </a:rPr>
                <a:t>---</a:t>
              </a:r>
              <a:br>
                <a:rPr lang="en-US" altLang="ja-JP" sz="1400" b="1">
                  <a:solidFill>
                    <a:sysClr val="windowText" lastClr="000000"/>
                  </a:solidFill>
                </a:rPr>
              </a:br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税区分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勘定科目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楕円 103">
              <a:extLst>
                <a:ext uri="{FF2B5EF4-FFF2-40B4-BE49-F238E27FC236}">
                  <a16:creationId xmlns:a16="http://schemas.microsoft.com/office/drawing/2014/main" id="{E660B970-6919-6425-E5C6-82A60D8A7323}"/>
                </a:ext>
              </a:extLst>
            </p:cNvPr>
            <p:cNvSpPr/>
            <p:nvPr/>
          </p:nvSpPr>
          <p:spPr>
            <a:xfrm>
              <a:off x="-472440" y="3923284"/>
              <a:ext cx="184912" cy="1849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A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05" name="楕円 104">
              <a:extLst>
                <a:ext uri="{FF2B5EF4-FFF2-40B4-BE49-F238E27FC236}">
                  <a16:creationId xmlns:a16="http://schemas.microsoft.com/office/drawing/2014/main" id="{146EE8EF-5592-CBC7-4C47-E493F2E21D65}"/>
                </a:ext>
              </a:extLst>
            </p:cNvPr>
            <p:cNvSpPr/>
            <p:nvPr/>
          </p:nvSpPr>
          <p:spPr>
            <a:xfrm>
              <a:off x="-472440" y="4134104"/>
              <a:ext cx="184912" cy="184912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B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06" name="楕円 105">
              <a:extLst>
                <a:ext uri="{FF2B5EF4-FFF2-40B4-BE49-F238E27FC236}">
                  <a16:creationId xmlns:a16="http://schemas.microsoft.com/office/drawing/2014/main" id="{8B467C25-E699-8141-2E24-4B9D843D02ED}"/>
                </a:ext>
              </a:extLst>
            </p:cNvPr>
            <p:cNvSpPr/>
            <p:nvPr/>
          </p:nvSpPr>
          <p:spPr>
            <a:xfrm>
              <a:off x="-472440" y="4354068"/>
              <a:ext cx="184912" cy="184912"/>
            </a:xfrm>
            <a:prstGeom prst="ellipse">
              <a:avLst/>
            </a:prstGeom>
            <a:solidFill>
              <a:srgbClr val="FFE7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C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07" name="楕円 106">
              <a:extLst>
                <a:ext uri="{FF2B5EF4-FFF2-40B4-BE49-F238E27FC236}">
                  <a16:creationId xmlns:a16="http://schemas.microsoft.com/office/drawing/2014/main" id="{CBFFB0BC-4320-05D8-1A59-FC46D2A64FC9}"/>
                </a:ext>
              </a:extLst>
            </p:cNvPr>
            <p:cNvSpPr/>
            <p:nvPr/>
          </p:nvSpPr>
          <p:spPr>
            <a:xfrm>
              <a:off x="-472440" y="4560824"/>
              <a:ext cx="184912" cy="18491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D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08" name="楕円 107">
              <a:extLst>
                <a:ext uri="{FF2B5EF4-FFF2-40B4-BE49-F238E27FC236}">
                  <a16:creationId xmlns:a16="http://schemas.microsoft.com/office/drawing/2014/main" id="{CFAE4099-D891-97E0-A68A-CE2445F0231F}"/>
                </a:ext>
              </a:extLst>
            </p:cNvPr>
            <p:cNvSpPr/>
            <p:nvPr/>
          </p:nvSpPr>
          <p:spPr>
            <a:xfrm>
              <a:off x="-472440" y="4942332"/>
              <a:ext cx="184912" cy="18491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E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09" name="楕円 108">
              <a:extLst>
                <a:ext uri="{FF2B5EF4-FFF2-40B4-BE49-F238E27FC236}">
                  <a16:creationId xmlns:a16="http://schemas.microsoft.com/office/drawing/2014/main" id="{A1F173E5-1F76-9E44-396E-5960C7C24DB4}"/>
                </a:ext>
              </a:extLst>
            </p:cNvPr>
            <p:cNvSpPr/>
            <p:nvPr/>
          </p:nvSpPr>
          <p:spPr>
            <a:xfrm>
              <a:off x="-472440" y="5176012"/>
              <a:ext cx="184912" cy="184912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F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</p:grp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A6C48498-AA14-E8FB-92A6-8CEDE3345E78}"/>
              </a:ext>
            </a:extLst>
          </p:cNvPr>
          <p:cNvSpPr/>
          <p:nvPr/>
        </p:nvSpPr>
        <p:spPr>
          <a:xfrm>
            <a:off x="11451000" y="5964348"/>
            <a:ext cx="360000" cy="18000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10A2F7DC-F4D7-6E21-1A5D-340BA43F8A8D}"/>
              </a:ext>
            </a:extLst>
          </p:cNvPr>
          <p:cNvSpPr/>
          <p:nvPr/>
        </p:nvSpPr>
        <p:spPr>
          <a:xfrm>
            <a:off x="11451000" y="5297826"/>
            <a:ext cx="360000" cy="18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四角形: 角を丸くする 116">
            <a:extLst>
              <a:ext uri="{FF2B5EF4-FFF2-40B4-BE49-F238E27FC236}">
                <a16:creationId xmlns:a16="http://schemas.microsoft.com/office/drawing/2014/main" id="{063F82D5-8ECB-80E2-F2F4-E40E99038A92}"/>
              </a:ext>
            </a:extLst>
          </p:cNvPr>
          <p:cNvSpPr/>
          <p:nvPr/>
        </p:nvSpPr>
        <p:spPr>
          <a:xfrm>
            <a:off x="11451000" y="5520000"/>
            <a:ext cx="360000" cy="18000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C76ADE11-6121-1E68-272B-3C3ECA317FE1}"/>
              </a:ext>
            </a:extLst>
          </p:cNvPr>
          <p:cNvSpPr/>
          <p:nvPr/>
        </p:nvSpPr>
        <p:spPr>
          <a:xfrm>
            <a:off x="11451000" y="5742174"/>
            <a:ext cx="360000" cy="180000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四角形: 角を丸くする 118">
            <a:extLst>
              <a:ext uri="{FF2B5EF4-FFF2-40B4-BE49-F238E27FC236}">
                <a16:creationId xmlns:a16="http://schemas.microsoft.com/office/drawing/2014/main" id="{5ED48568-A288-736B-B49E-737FB84D5D18}"/>
              </a:ext>
            </a:extLst>
          </p:cNvPr>
          <p:cNvSpPr/>
          <p:nvPr/>
        </p:nvSpPr>
        <p:spPr>
          <a:xfrm>
            <a:off x="11451000" y="6186522"/>
            <a:ext cx="360000" cy="180000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16DFE108-390C-3BCB-982E-7149A3D4BFA5}"/>
              </a:ext>
            </a:extLst>
          </p:cNvPr>
          <p:cNvSpPr/>
          <p:nvPr/>
        </p:nvSpPr>
        <p:spPr>
          <a:xfrm>
            <a:off x="4104002" y="3337560"/>
            <a:ext cx="894718" cy="1625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212E1292-B14B-0A98-0660-50A8FF36798B}"/>
              </a:ext>
            </a:extLst>
          </p:cNvPr>
          <p:cNvSpPr/>
          <p:nvPr/>
        </p:nvSpPr>
        <p:spPr>
          <a:xfrm>
            <a:off x="4111622" y="2589385"/>
            <a:ext cx="696598" cy="153815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EDA6A60D-04DB-C5DB-E6C3-7297C3EE6326}"/>
              </a:ext>
            </a:extLst>
          </p:cNvPr>
          <p:cNvSpPr/>
          <p:nvPr/>
        </p:nvSpPr>
        <p:spPr>
          <a:xfrm>
            <a:off x="2155822" y="5499100"/>
            <a:ext cx="1242698" cy="91440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02DB5C9B-5F9A-6C66-AA89-449E07620FE2}"/>
              </a:ext>
            </a:extLst>
          </p:cNvPr>
          <p:cNvSpPr/>
          <p:nvPr/>
        </p:nvSpPr>
        <p:spPr>
          <a:xfrm>
            <a:off x="2206622" y="5595620"/>
            <a:ext cx="1189358" cy="325120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楕円 126">
            <a:extLst>
              <a:ext uri="{FF2B5EF4-FFF2-40B4-BE49-F238E27FC236}">
                <a16:creationId xmlns:a16="http://schemas.microsoft.com/office/drawing/2014/main" id="{43716816-07D2-1B4C-DA1A-F0A7FDE62DF7}"/>
              </a:ext>
            </a:extLst>
          </p:cNvPr>
          <p:cNvSpPr/>
          <p:nvPr/>
        </p:nvSpPr>
        <p:spPr>
          <a:xfrm>
            <a:off x="2012427" y="5697168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129" name="四角形: 角を丸くする 128">
            <a:extLst>
              <a:ext uri="{FF2B5EF4-FFF2-40B4-BE49-F238E27FC236}">
                <a16:creationId xmlns:a16="http://schemas.microsoft.com/office/drawing/2014/main" id="{8C4871E7-9DA3-4AC0-03A9-E6030CDD667C}"/>
              </a:ext>
            </a:extLst>
          </p:cNvPr>
          <p:cNvSpPr/>
          <p:nvPr/>
        </p:nvSpPr>
        <p:spPr>
          <a:xfrm>
            <a:off x="2336162" y="6574645"/>
            <a:ext cx="882018" cy="103015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2" name="四角形: 角を丸くする 131">
            <a:extLst>
              <a:ext uri="{FF2B5EF4-FFF2-40B4-BE49-F238E27FC236}">
                <a16:creationId xmlns:a16="http://schemas.microsoft.com/office/drawing/2014/main" id="{FE62F9D0-B868-62C3-3A10-9302207F4F0A}"/>
              </a:ext>
            </a:extLst>
          </p:cNvPr>
          <p:cNvSpPr/>
          <p:nvPr/>
        </p:nvSpPr>
        <p:spPr>
          <a:xfrm>
            <a:off x="4073522" y="4924914"/>
            <a:ext cx="2479678" cy="294785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四角形: 角を丸くする 132">
            <a:extLst>
              <a:ext uri="{FF2B5EF4-FFF2-40B4-BE49-F238E27FC236}">
                <a16:creationId xmlns:a16="http://schemas.microsoft.com/office/drawing/2014/main" id="{771D142F-98B6-0224-0726-A6A5A50AC3EE}"/>
              </a:ext>
            </a:extLst>
          </p:cNvPr>
          <p:cNvSpPr/>
          <p:nvPr/>
        </p:nvSpPr>
        <p:spPr>
          <a:xfrm>
            <a:off x="4050662" y="5877560"/>
            <a:ext cx="2533018" cy="279400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四角形: 角を丸くする 133">
            <a:extLst>
              <a:ext uri="{FF2B5EF4-FFF2-40B4-BE49-F238E27FC236}">
                <a16:creationId xmlns:a16="http://schemas.microsoft.com/office/drawing/2014/main" id="{FA39B815-14B9-4980-A1BB-DDA2429A95D3}"/>
              </a:ext>
            </a:extLst>
          </p:cNvPr>
          <p:cNvSpPr/>
          <p:nvPr/>
        </p:nvSpPr>
        <p:spPr>
          <a:xfrm>
            <a:off x="4096382" y="2980945"/>
            <a:ext cx="1329058" cy="15240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四角形: 角を丸くする 134">
            <a:extLst>
              <a:ext uri="{FF2B5EF4-FFF2-40B4-BE49-F238E27FC236}">
                <a16:creationId xmlns:a16="http://schemas.microsoft.com/office/drawing/2014/main" id="{1719A13E-AEC5-AED4-65EB-666E50925E13}"/>
              </a:ext>
            </a:extLst>
          </p:cNvPr>
          <p:cNvSpPr/>
          <p:nvPr/>
        </p:nvSpPr>
        <p:spPr>
          <a:xfrm>
            <a:off x="5419344" y="1054608"/>
            <a:ext cx="989687" cy="134112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四角形: 角を丸くする 135">
            <a:extLst>
              <a:ext uri="{FF2B5EF4-FFF2-40B4-BE49-F238E27FC236}">
                <a16:creationId xmlns:a16="http://schemas.microsoft.com/office/drawing/2014/main" id="{01BD0EE7-1F75-37A4-9CB1-7BBBBA48A6CD}"/>
              </a:ext>
            </a:extLst>
          </p:cNvPr>
          <p:cNvSpPr/>
          <p:nvPr/>
        </p:nvSpPr>
        <p:spPr>
          <a:xfrm>
            <a:off x="4250710" y="1030224"/>
            <a:ext cx="1046713" cy="1219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四角形: 角を丸くする 136">
            <a:extLst>
              <a:ext uri="{FF2B5EF4-FFF2-40B4-BE49-F238E27FC236}">
                <a16:creationId xmlns:a16="http://schemas.microsoft.com/office/drawing/2014/main" id="{E8B144E2-F524-C51A-7CC8-D990FF22EA21}"/>
              </a:ext>
            </a:extLst>
          </p:cNvPr>
          <p:cNvSpPr/>
          <p:nvPr/>
        </p:nvSpPr>
        <p:spPr>
          <a:xfrm>
            <a:off x="4238518" y="1767840"/>
            <a:ext cx="900409" cy="164592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四角形: 角を丸くする 137">
            <a:extLst>
              <a:ext uri="{FF2B5EF4-FFF2-40B4-BE49-F238E27FC236}">
                <a16:creationId xmlns:a16="http://schemas.microsoft.com/office/drawing/2014/main" id="{8AF73145-27CA-3281-4E28-2DBD2280E4DD}"/>
              </a:ext>
            </a:extLst>
          </p:cNvPr>
          <p:cNvSpPr/>
          <p:nvPr/>
        </p:nvSpPr>
        <p:spPr>
          <a:xfrm>
            <a:off x="4317766" y="1160500"/>
            <a:ext cx="1028425" cy="156236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四角形: 角を丸くする 138">
            <a:extLst>
              <a:ext uri="{FF2B5EF4-FFF2-40B4-BE49-F238E27FC236}">
                <a16:creationId xmlns:a16="http://schemas.microsoft.com/office/drawing/2014/main" id="{DCD65ED1-DAEE-6D8A-E05E-69BBBD5CB2A6}"/>
              </a:ext>
            </a:extLst>
          </p:cNvPr>
          <p:cNvSpPr/>
          <p:nvPr/>
        </p:nvSpPr>
        <p:spPr>
          <a:xfrm>
            <a:off x="4748784" y="1170431"/>
            <a:ext cx="1660247" cy="140209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5BC6246B-5117-1BDB-3AFE-BDDC6F0E787C}"/>
              </a:ext>
            </a:extLst>
          </p:cNvPr>
          <p:cNvSpPr/>
          <p:nvPr/>
        </p:nvSpPr>
        <p:spPr>
          <a:xfrm>
            <a:off x="5389752" y="920374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93DCEDB5-34F0-0384-405C-E79327F4C16C}"/>
              </a:ext>
            </a:extLst>
          </p:cNvPr>
          <p:cNvSpPr/>
          <p:nvPr/>
        </p:nvSpPr>
        <p:spPr>
          <a:xfrm>
            <a:off x="6957232" y="4828032"/>
            <a:ext cx="1150448" cy="164592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四角形: 角を丸くする 140">
            <a:extLst>
              <a:ext uri="{FF2B5EF4-FFF2-40B4-BE49-F238E27FC236}">
                <a16:creationId xmlns:a16="http://schemas.microsoft.com/office/drawing/2014/main" id="{7DAE0106-1CF7-ADBA-CAEB-881B6FB65105}"/>
              </a:ext>
            </a:extLst>
          </p:cNvPr>
          <p:cNvSpPr/>
          <p:nvPr/>
        </p:nvSpPr>
        <p:spPr>
          <a:xfrm>
            <a:off x="6938944" y="2234565"/>
            <a:ext cx="821264" cy="1733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5A43EFC1-BB01-2B3F-3B29-ABB9A7D56F71}"/>
              </a:ext>
            </a:extLst>
          </p:cNvPr>
          <p:cNvSpPr/>
          <p:nvPr/>
        </p:nvSpPr>
        <p:spPr>
          <a:xfrm>
            <a:off x="6963328" y="1089660"/>
            <a:ext cx="571328" cy="178308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四角形: 角を丸くする 142">
            <a:extLst>
              <a:ext uri="{FF2B5EF4-FFF2-40B4-BE49-F238E27FC236}">
                <a16:creationId xmlns:a16="http://schemas.microsoft.com/office/drawing/2014/main" id="{18A9D30A-8C2F-5AAE-84B9-2699064703D3}"/>
              </a:ext>
            </a:extLst>
          </p:cNvPr>
          <p:cNvSpPr/>
          <p:nvPr/>
        </p:nvSpPr>
        <p:spPr>
          <a:xfrm>
            <a:off x="6987712" y="4114800"/>
            <a:ext cx="1418672" cy="121920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四角形: 角を丸くする 143">
            <a:extLst>
              <a:ext uri="{FF2B5EF4-FFF2-40B4-BE49-F238E27FC236}">
                <a16:creationId xmlns:a16="http://schemas.microsoft.com/office/drawing/2014/main" id="{9CF76CFA-2921-7E0C-0266-87FE7AD6599C}"/>
              </a:ext>
            </a:extLst>
          </p:cNvPr>
          <p:cNvSpPr/>
          <p:nvPr/>
        </p:nvSpPr>
        <p:spPr>
          <a:xfrm>
            <a:off x="6938944" y="3811142"/>
            <a:ext cx="1436960" cy="218313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四角形: 角を丸くする 144">
            <a:extLst>
              <a:ext uri="{FF2B5EF4-FFF2-40B4-BE49-F238E27FC236}">
                <a16:creationId xmlns:a16="http://schemas.microsoft.com/office/drawing/2014/main" id="{C967C0EB-5C82-BEB0-4FB1-AEE2ED7B27BD}"/>
              </a:ext>
            </a:extLst>
          </p:cNvPr>
          <p:cNvSpPr/>
          <p:nvPr/>
        </p:nvSpPr>
        <p:spPr>
          <a:xfrm>
            <a:off x="8818798" y="838200"/>
            <a:ext cx="1346282" cy="19431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四角形: 角を丸くする 145">
            <a:extLst>
              <a:ext uri="{FF2B5EF4-FFF2-40B4-BE49-F238E27FC236}">
                <a16:creationId xmlns:a16="http://schemas.microsoft.com/office/drawing/2014/main" id="{7E5F14C7-E265-35A2-259C-95A00BFFD90F}"/>
              </a:ext>
            </a:extLst>
          </p:cNvPr>
          <p:cNvSpPr/>
          <p:nvPr/>
        </p:nvSpPr>
        <p:spPr>
          <a:xfrm>
            <a:off x="8837294" y="1649349"/>
            <a:ext cx="794385" cy="1733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四角形: 角を丸くする 146">
            <a:extLst>
              <a:ext uri="{FF2B5EF4-FFF2-40B4-BE49-F238E27FC236}">
                <a16:creationId xmlns:a16="http://schemas.microsoft.com/office/drawing/2014/main" id="{9D9C23C5-766F-56AB-6B44-8890028EF711}"/>
              </a:ext>
            </a:extLst>
          </p:cNvPr>
          <p:cNvSpPr/>
          <p:nvPr/>
        </p:nvSpPr>
        <p:spPr>
          <a:xfrm>
            <a:off x="8853850" y="2568321"/>
            <a:ext cx="1244555" cy="121920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四角形: 角を丸くする 147">
            <a:extLst>
              <a:ext uri="{FF2B5EF4-FFF2-40B4-BE49-F238E27FC236}">
                <a16:creationId xmlns:a16="http://schemas.microsoft.com/office/drawing/2014/main" id="{57052268-B9B6-2E31-78E8-271DCB1701E2}"/>
              </a:ext>
            </a:extLst>
          </p:cNvPr>
          <p:cNvSpPr/>
          <p:nvPr/>
        </p:nvSpPr>
        <p:spPr>
          <a:xfrm>
            <a:off x="8856345" y="2175510"/>
            <a:ext cx="1287780" cy="183641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四角形: 角を丸くする 150">
            <a:extLst>
              <a:ext uri="{FF2B5EF4-FFF2-40B4-BE49-F238E27FC236}">
                <a16:creationId xmlns:a16="http://schemas.microsoft.com/office/drawing/2014/main" id="{6FF6BC16-C1E8-516A-A8BC-F885D812FBB2}"/>
              </a:ext>
            </a:extLst>
          </p:cNvPr>
          <p:cNvSpPr/>
          <p:nvPr/>
        </p:nvSpPr>
        <p:spPr>
          <a:xfrm>
            <a:off x="8837295" y="1200912"/>
            <a:ext cx="1019175" cy="111633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四角形: 角を丸くする 151">
            <a:extLst>
              <a:ext uri="{FF2B5EF4-FFF2-40B4-BE49-F238E27FC236}">
                <a16:creationId xmlns:a16="http://schemas.microsoft.com/office/drawing/2014/main" id="{7FFC3493-A568-54DA-D2BF-F51F887CAF98}"/>
              </a:ext>
            </a:extLst>
          </p:cNvPr>
          <p:cNvSpPr/>
          <p:nvPr/>
        </p:nvSpPr>
        <p:spPr>
          <a:xfrm>
            <a:off x="10774680" y="1122680"/>
            <a:ext cx="904240" cy="183134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四角形: 角を丸くする 152">
            <a:extLst>
              <a:ext uri="{FF2B5EF4-FFF2-40B4-BE49-F238E27FC236}">
                <a16:creationId xmlns:a16="http://schemas.microsoft.com/office/drawing/2014/main" id="{6F56E8A5-0209-504D-636F-6E8843A6A5F7}"/>
              </a:ext>
            </a:extLst>
          </p:cNvPr>
          <p:cNvSpPr/>
          <p:nvPr/>
        </p:nvSpPr>
        <p:spPr>
          <a:xfrm>
            <a:off x="10565511" y="1465453"/>
            <a:ext cx="752730" cy="13982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四角形: 角を丸くする 153">
            <a:extLst>
              <a:ext uri="{FF2B5EF4-FFF2-40B4-BE49-F238E27FC236}">
                <a16:creationId xmlns:a16="http://schemas.microsoft.com/office/drawing/2014/main" id="{72BE1293-01D6-DC46-34ED-CDB5F31AD261}"/>
              </a:ext>
            </a:extLst>
          </p:cNvPr>
          <p:cNvSpPr/>
          <p:nvPr/>
        </p:nvSpPr>
        <p:spPr>
          <a:xfrm>
            <a:off x="10604500" y="2283460"/>
            <a:ext cx="1298321" cy="187325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四角形: 角を丸くする 154">
            <a:extLst>
              <a:ext uri="{FF2B5EF4-FFF2-40B4-BE49-F238E27FC236}">
                <a16:creationId xmlns:a16="http://schemas.microsoft.com/office/drawing/2014/main" id="{088F0B49-C4EF-8943-889C-BDFAE574E75D}"/>
              </a:ext>
            </a:extLst>
          </p:cNvPr>
          <p:cNvSpPr/>
          <p:nvPr/>
        </p:nvSpPr>
        <p:spPr>
          <a:xfrm>
            <a:off x="10607421" y="2552954"/>
            <a:ext cx="1310259" cy="365506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四角形: 角を丸くする 155">
            <a:extLst>
              <a:ext uri="{FF2B5EF4-FFF2-40B4-BE49-F238E27FC236}">
                <a16:creationId xmlns:a16="http://schemas.microsoft.com/office/drawing/2014/main" id="{F3E9C72A-760C-DB28-28A8-122601CABB6E}"/>
              </a:ext>
            </a:extLst>
          </p:cNvPr>
          <p:cNvSpPr/>
          <p:nvPr/>
        </p:nvSpPr>
        <p:spPr>
          <a:xfrm>
            <a:off x="10895711" y="3617976"/>
            <a:ext cx="1019175" cy="111633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四角形: 角を丸くする 156">
            <a:extLst>
              <a:ext uri="{FF2B5EF4-FFF2-40B4-BE49-F238E27FC236}">
                <a16:creationId xmlns:a16="http://schemas.microsoft.com/office/drawing/2014/main" id="{5F5CB358-2D49-9B55-CE2B-EB9B655A8259}"/>
              </a:ext>
            </a:extLst>
          </p:cNvPr>
          <p:cNvSpPr/>
          <p:nvPr/>
        </p:nvSpPr>
        <p:spPr>
          <a:xfrm>
            <a:off x="11451000" y="6408695"/>
            <a:ext cx="360000" cy="180000"/>
          </a:xfrm>
          <a:prstGeom prst="roundRect">
            <a:avLst/>
          </a:prstGeom>
          <a:noFill/>
          <a:ln>
            <a:solidFill>
              <a:srgbClr val="D60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E9E0F23C-3ED7-9E59-316C-5F90667F3C32}"/>
              </a:ext>
            </a:extLst>
          </p:cNvPr>
          <p:cNvSpPr txBox="1"/>
          <p:nvPr/>
        </p:nvSpPr>
        <p:spPr>
          <a:xfrm>
            <a:off x="0" y="12192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【</a:t>
            </a:r>
            <a:r>
              <a:rPr kumimoji="1" lang="ja-JP" altLang="en-US"/>
              <a:t>領収書と記載項目の例＜</a:t>
            </a:r>
            <a:r>
              <a:rPr kumimoji="1" lang="en-US" altLang="ja-JP"/>
              <a:t>1</a:t>
            </a:r>
            <a:r>
              <a:rPr kumimoji="1" lang="ja-JP" altLang="en-US"/>
              <a:t>＞</a:t>
            </a:r>
            <a:r>
              <a:rPr kumimoji="1" lang="en-US" altLang="ja-JP"/>
              <a:t>】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35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B73E-A429-8352-087A-740D9D6C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2EADB96-19B7-5C4B-C63D-E815DA789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608" y="432042"/>
            <a:ext cx="2400998" cy="30501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96C4F92-6050-BD77-BE6D-2344B9FF1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10" y="138895"/>
            <a:ext cx="1905379" cy="60478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EA89E2C2-A0C0-D3F9-C372-E14E654C13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407" y="125341"/>
            <a:ext cx="2046539" cy="65879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1CEBFFE7-5BE4-42C3-D0F1-EA6270355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609" y="3833071"/>
            <a:ext cx="4838063" cy="24628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43000ABF-1762-F8DE-6ED9-3ECE7BBB7D05}"/>
              </a:ext>
            </a:extLst>
          </p:cNvPr>
          <p:cNvGrpSpPr/>
          <p:nvPr/>
        </p:nvGrpSpPr>
        <p:grpSpPr>
          <a:xfrm>
            <a:off x="487680" y="579120"/>
            <a:ext cx="3658176" cy="2684460"/>
            <a:chOff x="487680" y="579120"/>
            <a:chExt cx="3658176" cy="268446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BC9B912-BB37-6695-5764-576EF62B6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-60000">
              <a:off x="503140" y="620421"/>
              <a:ext cx="3642716" cy="2643159"/>
            </a:xfrm>
            <a:prstGeom prst="rect">
              <a:avLst/>
            </a:prstGeom>
            <a:ln>
              <a:noFill/>
            </a:ln>
          </p:spPr>
        </p:pic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5D6C5D2C-F528-D138-0A2B-1FB599A52CA0}"/>
                </a:ext>
              </a:extLst>
            </p:cNvPr>
            <p:cNvSpPr/>
            <p:nvPr/>
          </p:nvSpPr>
          <p:spPr>
            <a:xfrm>
              <a:off x="487680" y="579120"/>
              <a:ext cx="3645408" cy="2657856"/>
            </a:xfrm>
            <a:prstGeom prst="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F9FCB08-DFE2-BABA-070F-A9E955559436}"/>
              </a:ext>
            </a:extLst>
          </p:cNvPr>
          <p:cNvSpPr/>
          <p:nvPr/>
        </p:nvSpPr>
        <p:spPr>
          <a:xfrm>
            <a:off x="2344208" y="1109240"/>
            <a:ext cx="1232112" cy="2318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EF17ADF7-3138-6576-DB6A-F8C78E81634A}"/>
              </a:ext>
            </a:extLst>
          </p:cNvPr>
          <p:cNvSpPr/>
          <p:nvPr/>
        </p:nvSpPr>
        <p:spPr>
          <a:xfrm>
            <a:off x="2174240" y="1158240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D32658B-FCC1-922D-A289-A65CF85447B1}"/>
              </a:ext>
            </a:extLst>
          </p:cNvPr>
          <p:cNvSpPr/>
          <p:nvPr/>
        </p:nvSpPr>
        <p:spPr>
          <a:xfrm>
            <a:off x="1940560" y="2232660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60E5DA5-BDC2-73B8-A692-6D93BB719A97}"/>
              </a:ext>
            </a:extLst>
          </p:cNvPr>
          <p:cNvSpPr/>
          <p:nvPr/>
        </p:nvSpPr>
        <p:spPr>
          <a:xfrm>
            <a:off x="792480" y="1513840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BD40D28-C4A3-1DBC-3FCB-BB234E40675A}"/>
              </a:ext>
            </a:extLst>
          </p:cNvPr>
          <p:cNvSpPr/>
          <p:nvPr/>
        </p:nvSpPr>
        <p:spPr>
          <a:xfrm>
            <a:off x="1879600" y="2932176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A37DF34-FC3C-CB40-E489-C7058B0AEC7C}"/>
              </a:ext>
            </a:extLst>
          </p:cNvPr>
          <p:cNvGrpSpPr/>
          <p:nvPr/>
        </p:nvGrpSpPr>
        <p:grpSpPr>
          <a:xfrm>
            <a:off x="0" y="4999325"/>
            <a:ext cx="1672761" cy="1858675"/>
            <a:chOff x="-563289" y="3703320"/>
            <a:chExt cx="1672761" cy="1858675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8BD2C221-5AD2-2CFA-4BFD-3620964B6709}"/>
                </a:ext>
              </a:extLst>
            </p:cNvPr>
            <p:cNvSpPr/>
            <p:nvPr/>
          </p:nvSpPr>
          <p:spPr>
            <a:xfrm>
              <a:off x="-563289" y="3703320"/>
              <a:ext cx="1672761" cy="18586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　 日付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店名</a:t>
              </a:r>
              <a:endParaRPr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金</a:t>
              </a:r>
              <a:r>
                <a:rPr kumimoji="1" lang="ja-JP" altLang="en-US" sz="1400" b="1" spc="-300">
                  <a:solidFill>
                    <a:sysClr val="windowText" lastClr="000000"/>
                  </a:solidFill>
                </a:rPr>
                <a:t>額</a:t>
              </a:r>
              <a:r>
                <a:rPr kumimoji="1" lang="ja-JP" altLang="en-US" sz="1400">
                  <a:solidFill>
                    <a:sysClr val="windowText" lastClr="000000"/>
                  </a:solidFill>
                </a:rPr>
                <a:t>（合計額）</a:t>
              </a:r>
              <a:endParaRPr lang="en-US" altLang="ja-JP" sz="1400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インボイス番号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kumimoji="1" lang="en-US" altLang="ja-JP" sz="1000">
                  <a:solidFill>
                    <a:sysClr val="windowText" lastClr="000000"/>
                  </a:solidFill>
                </a:rPr>
                <a:t>--</a:t>
              </a:r>
              <a:r>
                <a:rPr kumimoji="1" lang="ja-JP" altLang="en-US" sz="1000">
                  <a:solidFill>
                    <a:sysClr val="windowText" lastClr="000000"/>
                  </a:solidFill>
                </a:rPr>
                <a:t>（以下、できれば）</a:t>
              </a:r>
              <a:r>
                <a:rPr lang="en-US" altLang="ja-JP" sz="1000">
                  <a:solidFill>
                    <a:sysClr val="windowText" lastClr="000000"/>
                  </a:solidFill>
                </a:rPr>
                <a:t>---</a:t>
              </a:r>
              <a:br>
                <a:rPr lang="en-US" altLang="ja-JP" sz="1400" b="1">
                  <a:solidFill>
                    <a:sysClr val="windowText" lastClr="000000"/>
                  </a:solidFill>
                </a:rPr>
              </a:br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税区分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勘定科目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15562958-C26E-E3CC-833C-54F5E18AD886}"/>
                </a:ext>
              </a:extLst>
            </p:cNvPr>
            <p:cNvSpPr/>
            <p:nvPr/>
          </p:nvSpPr>
          <p:spPr>
            <a:xfrm>
              <a:off x="-472440" y="3923284"/>
              <a:ext cx="184912" cy="1849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A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BAB52E34-6D61-6F4C-BF70-9721865BC707}"/>
                </a:ext>
              </a:extLst>
            </p:cNvPr>
            <p:cNvSpPr/>
            <p:nvPr/>
          </p:nvSpPr>
          <p:spPr>
            <a:xfrm>
              <a:off x="-472440" y="4134104"/>
              <a:ext cx="184912" cy="184912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B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5E2B8C44-2A94-D3D9-503D-3CB468DD3F38}"/>
                </a:ext>
              </a:extLst>
            </p:cNvPr>
            <p:cNvSpPr/>
            <p:nvPr/>
          </p:nvSpPr>
          <p:spPr>
            <a:xfrm>
              <a:off x="-472440" y="4354068"/>
              <a:ext cx="184912" cy="184912"/>
            </a:xfrm>
            <a:prstGeom prst="ellipse">
              <a:avLst/>
            </a:prstGeom>
            <a:solidFill>
              <a:srgbClr val="FFE7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C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39C47152-B113-DC0B-2563-0FA56FAF1809}"/>
                </a:ext>
              </a:extLst>
            </p:cNvPr>
            <p:cNvSpPr/>
            <p:nvPr/>
          </p:nvSpPr>
          <p:spPr>
            <a:xfrm>
              <a:off x="-472440" y="4560824"/>
              <a:ext cx="184912" cy="18491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D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F2395CB7-EC0A-D594-9D97-543AF3D14C6F}"/>
                </a:ext>
              </a:extLst>
            </p:cNvPr>
            <p:cNvSpPr/>
            <p:nvPr/>
          </p:nvSpPr>
          <p:spPr>
            <a:xfrm>
              <a:off x="-472440" y="4942332"/>
              <a:ext cx="184912" cy="18491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E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8E3B4791-902C-BBE3-0EB2-9A2F9A79CDC6}"/>
                </a:ext>
              </a:extLst>
            </p:cNvPr>
            <p:cNvSpPr/>
            <p:nvPr/>
          </p:nvSpPr>
          <p:spPr>
            <a:xfrm>
              <a:off x="-472440" y="5176012"/>
              <a:ext cx="184912" cy="184912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F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</p:grpSp>
      <p:sp>
        <p:nvSpPr>
          <p:cNvPr id="31" name="楕円 30">
            <a:extLst>
              <a:ext uri="{FF2B5EF4-FFF2-40B4-BE49-F238E27FC236}">
                <a16:creationId xmlns:a16="http://schemas.microsoft.com/office/drawing/2014/main" id="{1808482E-7F0A-4245-6E2A-DE014219DEEA}"/>
              </a:ext>
            </a:extLst>
          </p:cNvPr>
          <p:cNvSpPr/>
          <p:nvPr/>
        </p:nvSpPr>
        <p:spPr>
          <a:xfrm>
            <a:off x="4724400" y="2930144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10CDC05A-D669-AA3F-0330-333B3BF7018A}"/>
              </a:ext>
            </a:extLst>
          </p:cNvPr>
          <p:cNvSpPr/>
          <p:nvPr/>
        </p:nvSpPr>
        <p:spPr>
          <a:xfrm>
            <a:off x="4831080" y="1120140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083979D0-8378-4D6C-B20B-57FD2BF79513}"/>
              </a:ext>
            </a:extLst>
          </p:cNvPr>
          <p:cNvSpPr/>
          <p:nvPr/>
        </p:nvSpPr>
        <p:spPr>
          <a:xfrm>
            <a:off x="4706112" y="2586736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19E3E984-2856-E1F1-9FEA-B3AD27D8FC0D}"/>
              </a:ext>
            </a:extLst>
          </p:cNvPr>
          <p:cNvSpPr/>
          <p:nvPr/>
        </p:nvSpPr>
        <p:spPr>
          <a:xfrm>
            <a:off x="4754880" y="1507236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E5EEC2EC-A714-EC67-3267-5B339E43856B}"/>
              </a:ext>
            </a:extLst>
          </p:cNvPr>
          <p:cNvSpPr/>
          <p:nvPr/>
        </p:nvSpPr>
        <p:spPr>
          <a:xfrm>
            <a:off x="4748784" y="1711960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A43A2E95-88D0-5307-2D46-BFCC0C69AD16}"/>
              </a:ext>
            </a:extLst>
          </p:cNvPr>
          <p:cNvSpPr/>
          <p:nvPr/>
        </p:nvSpPr>
        <p:spPr>
          <a:xfrm>
            <a:off x="7489952" y="1361440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8B1B6982-C5F9-A88B-1DE0-A69E8B9537B0}"/>
              </a:ext>
            </a:extLst>
          </p:cNvPr>
          <p:cNvSpPr/>
          <p:nvPr/>
        </p:nvSpPr>
        <p:spPr>
          <a:xfrm>
            <a:off x="7526528" y="773684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731898D1-9F29-1557-2347-BBBE2A57C99D}"/>
              </a:ext>
            </a:extLst>
          </p:cNvPr>
          <p:cNvSpPr/>
          <p:nvPr/>
        </p:nvSpPr>
        <p:spPr>
          <a:xfrm>
            <a:off x="7481570" y="2369820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B14137B-092F-E08E-182A-B241611C5682}"/>
              </a:ext>
            </a:extLst>
          </p:cNvPr>
          <p:cNvSpPr/>
          <p:nvPr/>
        </p:nvSpPr>
        <p:spPr>
          <a:xfrm>
            <a:off x="7537450" y="5488686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321B2A09-B5F8-85E5-39C7-BEF4A1CB9B43}"/>
              </a:ext>
            </a:extLst>
          </p:cNvPr>
          <p:cNvSpPr/>
          <p:nvPr/>
        </p:nvSpPr>
        <p:spPr>
          <a:xfrm>
            <a:off x="7481570" y="2183130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8A19E9A4-CAC7-7DF4-9209-023F9BFADB9E}"/>
              </a:ext>
            </a:extLst>
          </p:cNvPr>
          <p:cNvSpPr/>
          <p:nvPr/>
        </p:nvSpPr>
        <p:spPr>
          <a:xfrm>
            <a:off x="9560560" y="6287008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347724CD-280D-A940-BDEF-5F8CFD831A7B}"/>
              </a:ext>
            </a:extLst>
          </p:cNvPr>
          <p:cNvSpPr/>
          <p:nvPr/>
        </p:nvSpPr>
        <p:spPr>
          <a:xfrm>
            <a:off x="9560560" y="6485636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9C265E91-6213-3B60-69F4-F2A2FF791B1F}"/>
              </a:ext>
            </a:extLst>
          </p:cNvPr>
          <p:cNvSpPr/>
          <p:nvPr/>
        </p:nvSpPr>
        <p:spPr>
          <a:xfrm>
            <a:off x="9522460" y="4815840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38133E45-B2FA-E466-58A5-B5EBB6052598}"/>
              </a:ext>
            </a:extLst>
          </p:cNvPr>
          <p:cNvSpPr/>
          <p:nvPr/>
        </p:nvSpPr>
        <p:spPr>
          <a:xfrm>
            <a:off x="9561576" y="6129020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A127F064-6D4F-184C-6E4F-F0F239A46C26}"/>
              </a:ext>
            </a:extLst>
          </p:cNvPr>
          <p:cNvSpPr/>
          <p:nvPr/>
        </p:nvSpPr>
        <p:spPr>
          <a:xfrm>
            <a:off x="3009900" y="5100320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3FD063F5-10E9-6A04-D54E-8454D65A78B0}"/>
              </a:ext>
            </a:extLst>
          </p:cNvPr>
          <p:cNvSpPr/>
          <p:nvPr/>
        </p:nvSpPr>
        <p:spPr>
          <a:xfrm>
            <a:off x="4998720" y="5585460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0774892-C6C8-3AE2-F922-A9E4A909B719}"/>
              </a:ext>
            </a:extLst>
          </p:cNvPr>
          <p:cNvSpPr/>
          <p:nvPr/>
        </p:nvSpPr>
        <p:spPr>
          <a:xfrm>
            <a:off x="3063240" y="4409440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BECBB9B1-4C46-5CA5-CA38-060F4434ED08}"/>
              </a:ext>
            </a:extLst>
          </p:cNvPr>
          <p:cNvSpPr/>
          <p:nvPr/>
        </p:nvSpPr>
        <p:spPr>
          <a:xfrm>
            <a:off x="4991100" y="5782056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5DDE73A2-45C8-6284-8979-B327B5F0FC26}"/>
              </a:ext>
            </a:extLst>
          </p:cNvPr>
          <p:cNvSpPr/>
          <p:nvPr/>
        </p:nvSpPr>
        <p:spPr>
          <a:xfrm>
            <a:off x="2903220" y="5415280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B1891333-305A-23C1-641E-1DCCA4E56480}"/>
              </a:ext>
            </a:extLst>
          </p:cNvPr>
          <p:cNvSpPr/>
          <p:nvPr/>
        </p:nvSpPr>
        <p:spPr>
          <a:xfrm>
            <a:off x="2043992" y="2804160"/>
            <a:ext cx="1857447" cy="31242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EBE67AE7-0525-57FD-6F06-B4EFDF72CB2E}"/>
              </a:ext>
            </a:extLst>
          </p:cNvPr>
          <p:cNvSpPr/>
          <p:nvPr/>
        </p:nvSpPr>
        <p:spPr>
          <a:xfrm>
            <a:off x="2089712" y="2203418"/>
            <a:ext cx="1664407" cy="331502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1F485DAC-54ED-9BB7-0146-0B312E3432F7}"/>
              </a:ext>
            </a:extLst>
          </p:cNvPr>
          <p:cNvSpPr/>
          <p:nvPr/>
        </p:nvSpPr>
        <p:spPr>
          <a:xfrm>
            <a:off x="950776" y="1398237"/>
            <a:ext cx="2473143" cy="461043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F1C66EBC-128F-D047-D201-6DC9914E9730}"/>
              </a:ext>
            </a:extLst>
          </p:cNvPr>
          <p:cNvSpPr/>
          <p:nvPr/>
        </p:nvSpPr>
        <p:spPr>
          <a:xfrm>
            <a:off x="613338" y="3279869"/>
            <a:ext cx="3836742" cy="1948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000">
                <a:solidFill>
                  <a:schemeClr val="tx1"/>
                </a:solidFill>
              </a:rPr>
              <a:t>記載なしだが、食事代税率</a:t>
            </a:r>
            <a:r>
              <a:rPr lang="en-US" altLang="ja-JP" sz="1000">
                <a:solidFill>
                  <a:schemeClr val="tx1"/>
                </a:solidFill>
              </a:rPr>
              <a:t>10%</a:t>
            </a:r>
            <a:r>
              <a:rPr lang="ja-JP" altLang="en-US" sz="1000">
                <a:solidFill>
                  <a:schemeClr val="tx1"/>
                </a:solidFill>
              </a:rPr>
              <a:t>で処理（課税対象であるため）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B1C1B680-6EED-AD76-CAA8-125BF4016775}"/>
              </a:ext>
            </a:extLst>
          </p:cNvPr>
          <p:cNvSpPr/>
          <p:nvPr/>
        </p:nvSpPr>
        <p:spPr>
          <a:xfrm>
            <a:off x="5161960" y="5547360"/>
            <a:ext cx="1574120" cy="22098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686A7B7D-6F8C-BAEE-4EB7-866786D01D5F}"/>
              </a:ext>
            </a:extLst>
          </p:cNvPr>
          <p:cNvSpPr/>
          <p:nvPr/>
        </p:nvSpPr>
        <p:spPr>
          <a:xfrm>
            <a:off x="3241720" y="4436110"/>
            <a:ext cx="1696040" cy="455930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D7F64068-938E-2A3B-2622-62DC8B54CE7B}"/>
              </a:ext>
            </a:extLst>
          </p:cNvPr>
          <p:cNvSpPr/>
          <p:nvPr/>
        </p:nvSpPr>
        <p:spPr>
          <a:xfrm>
            <a:off x="3066460" y="5382894"/>
            <a:ext cx="1261700" cy="568325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7CCF8578-DCC0-273A-7ADC-86C42B425DAD}"/>
              </a:ext>
            </a:extLst>
          </p:cNvPr>
          <p:cNvSpPr/>
          <p:nvPr/>
        </p:nvSpPr>
        <p:spPr>
          <a:xfrm>
            <a:off x="518160" y="3278632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DA1906C9-2772-511C-1229-F2CFED9C205B}"/>
              </a:ext>
            </a:extLst>
          </p:cNvPr>
          <p:cNvSpPr/>
          <p:nvPr/>
        </p:nvSpPr>
        <p:spPr>
          <a:xfrm>
            <a:off x="4923200" y="1503680"/>
            <a:ext cx="1683340" cy="18034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A22870A7-0EBD-F846-A5B3-B4AEDA3A227D}"/>
              </a:ext>
            </a:extLst>
          </p:cNvPr>
          <p:cNvSpPr/>
          <p:nvPr/>
        </p:nvSpPr>
        <p:spPr>
          <a:xfrm>
            <a:off x="4904912" y="2933572"/>
            <a:ext cx="1983568" cy="1936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7646C867-A46D-98EF-403B-3101E608DEBD}"/>
              </a:ext>
            </a:extLst>
          </p:cNvPr>
          <p:cNvSpPr/>
          <p:nvPr/>
        </p:nvSpPr>
        <p:spPr>
          <a:xfrm>
            <a:off x="4874432" y="2578862"/>
            <a:ext cx="2020144" cy="194818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D2F922EE-905F-1C86-21B5-B64EFF67E5A6}"/>
              </a:ext>
            </a:extLst>
          </p:cNvPr>
          <p:cNvSpPr/>
          <p:nvPr/>
        </p:nvSpPr>
        <p:spPr>
          <a:xfrm>
            <a:off x="4929296" y="1699894"/>
            <a:ext cx="1538560" cy="189865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D78D9555-6FB7-5D55-D5BA-AB761CAF4FA3}"/>
              </a:ext>
            </a:extLst>
          </p:cNvPr>
          <p:cNvSpPr/>
          <p:nvPr/>
        </p:nvSpPr>
        <p:spPr>
          <a:xfrm>
            <a:off x="4999400" y="1115060"/>
            <a:ext cx="1477600" cy="23368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08048025-DCB5-C5ED-E9D4-8D31393B43C1}"/>
              </a:ext>
            </a:extLst>
          </p:cNvPr>
          <p:cNvSpPr/>
          <p:nvPr/>
        </p:nvSpPr>
        <p:spPr>
          <a:xfrm>
            <a:off x="7642016" y="1366901"/>
            <a:ext cx="868000" cy="1631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44E9E1A1-B119-F530-0326-14239DB0DF83}"/>
              </a:ext>
            </a:extLst>
          </p:cNvPr>
          <p:cNvSpPr/>
          <p:nvPr/>
        </p:nvSpPr>
        <p:spPr>
          <a:xfrm>
            <a:off x="7680960" y="792480"/>
            <a:ext cx="804672" cy="158496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BC23B1F2-C357-B0F0-FEEE-5A2072C4DB07}"/>
              </a:ext>
            </a:extLst>
          </p:cNvPr>
          <p:cNvSpPr/>
          <p:nvPr/>
        </p:nvSpPr>
        <p:spPr>
          <a:xfrm>
            <a:off x="7642016" y="2186941"/>
            <a:ext cx="1494364" cy="194309"/>
          </a:xfrm>
          <a:prstGeom prst="roundRect">
            <a:avLst/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A04CCB56-9D32-1426-B09E-607B6030CC37}"/>
              </a:ext>
            </a:extLst>
          </p:cNvPr>
          <p:cNvSpPr/>
          <p:nvPr/>
        </p:nvSpPr>
        <p:spPr>
          <a:xfrm>
            <a:off x="7655732" y="2385060"/>
            <a:ext cx="1480648" cy="102870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四角形: 角を丸くする 83">
            <a:extLst>
              <a:ext uri="{FF2B5EF4-FFF2-40B4-BE49-F238E27FC236}">
                <a16:creationId xmlns:a16="http://schemas.microsoft.com/office/drawing/2014/main" id="{F4F557C5-6A81-C727-0E26-7E29280209AF}"/>
              </a:ext>
            </a:extLst>
          </p:cNvPr>
          <p:cNvSpPr/>
          <p:nvPr/>
        </p:nvSpPr>
        <p:spPr>
          <a:xfrm>
            <a:off x="7696880" y="5496560"/>
            <a:ext cx="1127080" cy="18034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楕円 84">
            <a:extLst>
              <a:ext uri="{FF2B5EF4-FFF2-40B4-BE49-F238E27FC236}">
                <a16:creationId xmlns:a16="http://schemas.microsoft.com/office/drawing/2014/main" id="{D0B0FA96-D98A-147F-FC41-03965EF2A769}"/>
              </a:ext>
            </a:extLst>
          </p:cNvPr>
          <p:cNvSpPr/>
          <p:nvPr/>
        </p:nvSpPr>
        <p:spPr>
          <a:xfrm>
            <a:off x="9538970" y="4263390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86" name="四角形: 角を丸くする 85">
            <a:extLst>
              <a:ext uri="{FF2B5EF4-FFF2-40B4-BE49-F238E27FC236}">
                <a16:creationId xmlns:a16="http://schemas.microsoft.com/office/drawing/2014/main" id="{AC529600-7544-D080-2299-F8CCAD6003E8}"/>
              </a:ext>
            </a:extLst>
          </p:cNvPr>
          <p:cNvSpPr/>
          <p:nvPr/>
        </p:nvSpPr>
        <p:spPr>
          <a:xfrm>
            <a:off x="9699416" y="4251961"/>
            <a:ext cx="1662004" cy="480059"/>
          </a:xfrm>
          <a:prstGeom prst="roundRect">
            <a:avLst>
              <a:gd name="adj" fmla="val 11905"/>
            </a:avLst>
          </a:prstGeom>
          <a:noFill/>
          <a:ln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630D0B98-A24F-4B9A-4331-A91E95F90213}"/>
              </a:ext>
            </a:extLst>
          </p:cNvPr>
          <p:cNvSpPr/>
          <p:nvPr/>
        </p:nvSpPr>
        <p:spPr>
          <a:xfrm>
            <a:off x="9705512" y="4775200"/>
            <a:ext cx="1655908" cy="233680"/>
          </a:xfrm>
          <a:prstGeom prst="roundRect">
            <a:avLst/>
          </a:prstGeom>
          <a:noFill/>
          <a:ln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2837D58F-2FF3-52BD-0453-A7B7385ADD9E}"/>
              </a:ext>
            </a:extLst>
          </p:cNvPr>
          <p:cNvSpPr/>
          <p:nvPr/>
        </p:nvSpPr>
        <p:spPr>
          <a:xfrm>
            <a:off x="9733280" y="6187440"/>
            <a:ext cx="1366520" cy="11684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C45815CD-9EF6-F6A9-7A89-5D5ED2630E6A}"/>
              </a:ext>
            </a:extLst>
          </p:cNvPr>
          <p:cNvSpPr/>
          <p:nvPr/>
        </p:nvSpPr>
        <p:spPr>
          <a:xfrm>
            <a:off x="9720752" y="6304661"/>
            <a:ext cx="1331296" cy="1144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865E7E84-F35F-4F9A-CF26-784DBB7903E9}"/>
              </a:ext>
            </a:extLst>
          </p:cNvPr>
          <p:cNvSpPr/>
          <p:nvPr/>
        </p:nvSpPr>
        <p:spPr>
          <a:xfrm>
            <a:off x="9732944" y="6497828"/>
            <a:ext cx="1477600" cy="10414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四角形: 角を丸くする 90">
            <a:extLst>
              <a:ext uri="{FF2B5EF4-FFF2-40B4-BE49-F238E27FC236}">
                <a16:creationId xmlns:a16="http://schemas.microsoft.com/office/drawing/2014/main" id="{C41A79C3-5785-248C-2D3F-8D9E3F5802C8}"/>
              </a:ext>
            </a:extLst>
          </p:cNvPr>
          <p:cNvSpPr/>
          <p:nvPr/>
        </p:nvSpPr>
        <p:spPr>
          <a:xfrm>
            <a:off x="3175172" y="5082540"/>
            <a:ext cx="1511128" cy="20878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F0CA3BB9-9962-F2F6-1145-BB8A1A601FBB}"/>
              </a:ext>
            </a:extLst>
          </p:cNvPr>
          <p:cNvSpPr/>
          <p:nvPr/>
        </p:nvSpPr>
        <p:spPr>
          <a:xfrm>
            <a:off x="5175813" y="5775960"/>
            <a:ext cx="1621228" cy="121920"/>
          </a:xfrm>
          <a:prstGeom prst="roundRect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楕円 92">
            <a:extLst>
              <a:ext uri="{FF2B5EF4-FFF2-40B4-BE49-F238E27FC236}">
                <a16:creationId xmlns:a16="http://schemas.microsoft.com/office/drawing/2014/main" id="{59BA8FFA-1B9E-A427-1D15-6191B4EF5B79}"/>
              </a:ext>
            </a:extLst>
          </p:cNvPr>
          <p:cNvSpPr/>
          <p:nvPr/>
        </p:nvSpPr>
        <p:spPr>
          <a:xfrm>
            <a:off x="11394440" y="3174626"/>
            <a:ext cx="184912" cy="177837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42B29A07-DA3B-07B0-27E3-5A59CF95A21A}"/>
              </a:ext>
            </a:extLst>
          </p:cNvPr>
          <p:cNvSpPr/>
          <p:nvPr/>
        </p:nvSpPr>
        <p:spPr>
          <a:xfrm>
            <a:off x="9648616" y="3649980"/>
            <a:ext cx="1712804" cy="401320"/>
          </a:xfrm>
          <a:prstGeom prst="roundRect">
            <a:avLst>
              <a:gd name="adj" fmla="val 11905"/>
            </a:avLst>
          </a:prstGeom>
          <a:noFill/>
          <a:ln>
            <a:solidFill>
              <a:srgbClr val="D6009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106FEBF5-1630-569F-41A1-0897B9118BEB}"/>
              </a:ext>
            </a:extLst>
          </p:cNvPr>
          <p:cNvSpPr/>
          <p:nvPr/>
        </p:nvSpPr>
        <p:spPr>
          <a:xfrm>
            <a:off x="9640996" y="845820"/>
            <a:ext cx="1712804" cy="2595880"/>
          </a:xfrm>
          <a:prstGeom prst="roundRect">
            <a:avLst>
              <a:gd name="adj" fmla="val 11905"/>
            </a:avLst>
          </a:prstGeom>
          <a:noFill/>
          <a:ln>
            <a:solidFill>
              <a:srgbClr val="D6009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76868717-97B9-2488-73BE-E6A9E8409C62}"/>
              </a:ext>
            </a:extLst>
          </p:cNvPr>
          <p:cNvSpPr/>
          <p:nvPr/>
        </p:nvSpPr>
        <p:spPr>
          <a:xfrm>
            <a:off x="11394440" y="3700406"/>
            <a:ext cx="184912" cy="177837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A2DC01A0-B700-E43C-A7B0-CF8CE8560664}"/>
              </a:ext>
            </a:extLst>
          </p:cNvPr>
          <p:cNvSpPr txBox="1"/>
          <p:nvPr/>
        </p:nvSpPr>
        <p:spPr>
          <a:xfrm>
            <a:off x="11542678" y="3158214"/>
            <a:ext cx="720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/>
              <a:t>通信費</a:t>
            </a: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A634AE67-8768-C861-9C5F-FC200BFBFC32}"/>
              </a:ext>
            </a:extLst>
          </p:cNvPr>
          <p:cNvSpPr txBox="1"/>
          <p:nvPr/>
        </p:nvSpPr>
        <p:spPr>
          <a:xfrm>
            <a:off x="11451238" y="3635734"/>
            <a:ext cx="9236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/>
              <a:t>租税公課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8325D601-C2AE-DF05-F070-DF676D220489}"/>
              </a:ext>
            </a:extLst>
          </p:cNvPr>
          <p:cNvSpPr txBox="1"/>
          <p:nvPr/>
        </p:nvSpPr>
        <p:spPr>
          <a:xfrm>
            <a:off x="0" y="12192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【</a:t>
            </a:r>
            <a:r>
              <a:rPr kumimoji="1" lang="ja-JP" altLang="en-US"/>
              <a:t>領収書と記載項目の例＜</a:t>
            </a:r>
            <a:r>
              <a:rPr kumimoji="1" lang="en-US" altLang="ja-JP"/>
              <a:t>2</a:t>
            </a:r>
            <a:r>
              <a:rPr kumimoji="1" lang="ja-JP" altLang="en-US"/>
              <a:t>＞</a:t>
            </a:r>
            <a:r>
              <a:rPr kumimoji="1" lang="en-US" altLang="ja-JP"/>
              <a:t>】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396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B7C5EE6-70F2-13AE-F03F-B139E1EE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283"/>
            <a:ext cx="12192000" cy="321034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879A5F-6610-412C-A40C-3E03B84E5FAD}"/>
              </a:ext>
            </a:extLst>
          </p:cNvPr>
          <p:cNvSpPr txBox="1"/>
          <p:nvPr/>
        </p:nvSpPr>
        <p:spPr>
          <a:xfrm>
            <a:off x="0" y="121920"/>
            <a:ext cx="787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【”</a:t>
            </a:r>
            <a:r>
              <a:rPr lang="ja-JP" altLang="en-US"/>
              <a:t>各個人出金伝票別紙データ</a:t>
            </a:r>
            <a:r>
              <a:rPr lang="en-US" altLang="ja-JP"/>
              <a:t>.xlsx”</a:t>
            </a:r>
            <a:r>
              <a:rPr lang="ja-JP" altLang="en-US"/>
              <a:t>と項目の紐づけの例</a:t>
            </a:r>
            <a:r>
              <a:rPr kumimoji="1" lang="en-US" altLang="ja-JP"/>
              <a:t>】</a:t>
            </a:r>
            <a:endParaRPr kumimoji="1" lang="ja-JP" altLang="en-US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AEDA8127-E2CD-37C1-2A25-E9F87D3B3D2A}"/>
              </a:ext>
            </a:extLst>
          </p:cNvPr>
          <p:cNvGrpSpPr/>
          <p:nvPr/>
        </p:nvGrpSpPr>
        <p:grpSpPr>
          <a:xfrm>
            <a:off x="266330" y="4552453"/>
            <a:ext cx="8328843" cy="1858675"/>
            <a:chOff x="3190609" y="4552453"/>
            <a:chExt cx="8328843" cy="1858675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25EFC4FC-98E7-75DD-6C12-83C46DAE52F6}"/>
                </a:ext>
              </a:extLst>
            </p:cNvPr>
            <p:cNvSpPr/>
            <p:nvPr/>
          </p:nvSpPr>
          <p:spPr>
            <a:xfrm>
              <a:off x="3190609" y="4552453"/>
              <a:ext cx="8328843" cy="18586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　 日付</a:t>
              </a:r>
              <a:r>
                <a:rPr kumimoji="1" lang="ja-JP" altLang="en-US" sz="1400">
                  <a:solidFill>
                    <a:sysClr val="windowText" lastClr="000000"/>
                  </a:solidFill>
                </a:rPr>
                <a:t>ー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支払日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店名</a:t>
              </a:r>
              <a:r>
                <a:rPr lang="ja-JP" altLang="en-US" sz="1400">
                  <a:solidFill>
                    <a:sysClr val="windowText" lastClr="000000"/>
                  </a:solidFill>
                </a:rPr>
                <a:t>ー</a:t>
              </a:r>
              <a:r>
                <a:rPr lang="ja-JP" altLang="en-US" sz="1400" b="1">
                  <a:solidFill>
                    <a:sysClr val="windowText" lastClr="000000"/>
                  </a:solidFill>
                </a:rPr>
                <a:t>店名</a:t>
              </a:r>
              <a:r>
                <a:rPr lang="en-US" altLang="ja-JP" sz="1400" b="1">
                  <a:solidFill>
                    <a:sysClr val="windowText" lastClr="000000"/>
                  </a:solidFill>
                </a:rPr>
                <a:t>/</a:t>
              </a:r>
              <a:r>
                <a:rPr lang="ja-JP" altLang="en-US" sz="1400" b="1">
                  <a:solidFill>
                    <a:sysClr val="windowText" lastClr="000000"/>
                  </a:solidFill>
                </a:rPr>
                <a:t>発行元</a:t>
              </a:r>
              <a:endParaRPr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金</a:t>
              </a:r>
              <a:r>
                <a:rPr kumimoji="1" lang="ja-JP" altLang="en-US" sz="1400" b="1" spc="-300">
                  <a:solidFill>
                    <a:sysClr val="windowText" lastClr="000000"/>
                  </a:solidFill>
                </a:rPr>
                <a:t>額</a:t>
              </a:r>
              <a:r>
                <a:rPr kumimoji="1" lang="ja-JP" altLang="en-US" sz="1400">
                  <a:solidFill>
                    <a:sysClr val="windowText" lastClr="000000"/>
                  </a:solidFill>
                </a:rPr>
                <a:t>（合計額）ー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支出</a:t>
              </a:r>
              <a:endParaRPr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インボイス番号</a:t>
              </a:r>
              <a:r>
                <a:rPr kumimoji="1" lang="ja-JP" altLang="en-US" sz="1400">
                  <a:solidFill>
                    <a:sysClr val="windowText" lastClr="000000"/>
                  </a:solidFill>
                </a:rPr>
                <a:t>ー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領収書に記載があれば「有」、なければ「無」</a:t>
              </a:r>
              <a:endParaRPr kumimoji="1" lang="en-US" altLang="ja-JP" sz="1400" b="1">
                <a:solidFill>
                  <a:sysClr val="windowText" lastClr="000000"/>
                </a:solidFill>
              </a:endParaRPr>
            </a:p>
            <a:p>
              <a:r>
                <a:rPr kumimoji="1" lang="en-US" altLang="ja-JP" sz="1000">
                  <a:solidFill>
                    <a:sysClr val="windowText" lastClr="000000"/>
                  </a:solidFill>
                </a:rPr>
                <a:t>--</a:t>
              </a:r>
              <a:r>
                <a:rPr kumimoji="1" lang="ja-JP" altLang="en-US" sz="1000">
                  <a:solidFill>
                    <a:sysClr val="windowText" lastClr="000000"/>
                  </a:solidFill>
                </a:rPr>
                <a:t>（以下、自動処理ができれば）</a:t>
              </a:r>
              <a:r>
                <a:rPr lang="en-US" altLang="ja-JP" sz="1000">
                  <a:solidFill>
                    <a:sysClr val="windowText" lastClr="000000"/>
                  </a:solidFill>
                </a:rPr>
                <a:t>---</a:t>
              </a:r>
              <a:br>
                <a:rPr lang="en-US" altLang="ja-JP" sz="1400" b="1">
                  <a:solidFill>
                    <a:sysClr val="windowText" lastClr="000000"/>
                  </a:solidFill>
                </a:rPr>
              </a:br>
              <a:r>
                <a:rPr lang="ja-JP" altLang="en-US" sz="1400" b="1">
                  <a:solidFill>
                    <a:sysClr val="windowText" lastClr="000000"/>
                  </a:solidFill>
                </a:rPr>
                <a:t>　 </a:t>
              </a:r>
              <a:r>
                <a:rPr kumimoji="1" lang="ja-JP" altLang="en-US" sz="1400" b="1">
                  <a:solidFill>
                    <a:sysClr val="windowText" lastClr="000000"/>
                  </a:solidFill>
                </a:rPr>
                <a:t>税区分</a:t>
              </a:r>
              <a:r>
                <a:rPr kumimoji="1" lang="en-US" altLang="ja-JP" sz="1400">
                  <a:solidFill>
                    <a:sysClr val="windowText" lastClr="000000"/>
                  </a:solidFill>
                </a:rPr>
                <a:t>…8%</a:t>
              </a:r>
              <a:r>
                <a:rPr lang="ja-JP" altLang="en-US" sz="1400">
                  <a:solidFill>
                    <a:sysClr val="windowText" lastClr="000000"/>
                  </a:solidFill>
                </a:rPr>
                <a:t>・</a:t>
              </a:r>
              <a:r>
                <a:rPr kumimoji="1" lang="en-US" altLang="ja-JP" sz="1400">
                  <a:solidFill>
                    <a:sysClr val="windowText" lastClr="000000"/>
                  </a:solidFill>
                </a:rPr>
                <a:t>10</a:t>
              </a:r>
              <a:r>
                <a:rPr kumimoji="1" lang="ja-JP" altLang="en-US" sz="1400">
                  <a:solidFill>
                    <a:sysClr val="windowText" lastClr="000000"/>
                  </a:solidFill>
                </a:rPr>
                <a:t>％・非課税それぞれの合計を税込み金額で入力する（</a:t>
              </a:r>
              <a:r>
                <a:rPr kumimoji="1" lang="en-US" altLang="ja-JP" sz="1400">
                  <a:solidFill>
                    <a:sysClr val="windowText" lastClr="000000"/>
                  </a:solidFill>
                </a:rPr>
                <a:t>※1</a:t>
              </a:r>
              <a:r>
                <a:rPr kumimoji="1" lang="ja-JP" altLang="en-US" sz="1400">
                  <a:solidFill>
                    <a:sysClr val="windowText" lastClr="000000"/>
                  </a:solidFill>
                </a:rPr>
                <a:t>）</a:t>
              </a:r>
              <a:endParaRPr kumimoji="1" lang="en-US" altLang="ja-JP" sz="1400">
                <a:solidFill>
                  <a:sysClr val="windowText" lastClr="000000"/>
                </a:solidFill>
              </a:endParaRPr>
            </a:p>
            <a:p>
              <a:r>
                <a:rPr lang="ja-JP" altLang="en-US" sz="1400" b="1">
                  <a:solidFill>
                    <a:sysClr val="windowText" lastClr="000000"/>
                  </a:solidFill>
                </a:rPr>
                <a:t>　 勘定科目</a:t>
              </a:r>
              <a:r>
                <a:rPr lang="en-US" altLang="ja-JP" sz="1400">
                  <a:solidFill>
                    <a:sysClr val="windowText" lastClr="000000"/>
                  </a:solidFill>
                </a:rPr>
                <a:t>…</a:t>
              </a:r>
              <a:r>
                <a:rPr lang="ja-JP" altLang="en-US" sz="1400">
                  <a:solidFill>
                    <a:sysClr val="windowText" lastClr="000000"/>
                  </a:solidFill>
                </a:rPr>
                <a:t>領収書から読み取って振分けができるなら、自動で判別できるとよい（</a:t>
              </a:r>
              <a:r>
                <a:rPr lang="en-US" altLang="ja-JP" sz="1400">
                  <a:solidFill>
                    <a:sysClr val="windowText" lastClr="000000"/>
                  </a:solidFill>
                </a:rPr>
                <a:t>※2</a:t>
              </a:r>
              <a:r>
                <a:rPr lang="ja-JP" altLang="en-US" sz="1400">
                  <a:solidFill>
                    <a:sysClr val="windowText" lastClr="000000"/>
                  </a:solidFill>
                </a:rPr>
                <a:t>）</a:t>
              </a:r>
              <a:endParaRPr kumimoji="1" lang="en-US" altLang="ja-JP" sz="140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2C1AA62E-8398-9B1B-58CC-70F1853D7517}"/>
                </a:ext>
              </a:extLst>
            </p:cNvPr>
            <p:cNvSpPr/>
            <p:nvPr/>
          </p:nvSpPr>
          <p:spPr>
            <a:xfrm>
              <a:off x="3281459" y="4772417"/>
              <a:ext cx="184912" cy="1849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A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BC5B2304-717B-E71E-A821-30739597988F}"/>
                </a:ext>
              </a:extLst>
            </p:cNvPr>
            <p:cNvSpPr/>
            <p:nvPr/>
          </p:nvSpPr>
          <p:spPr>
            <a:xfrm>
              <a:off x="3281459" y="4983237"/>
              <a:ext cx="184912" cy="184912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B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5BC59F18-EF5B-D9A4-DB7B-8D319DE8BB10}"/>
                </a:ext>
              </a:extLst>
            </p:cNvPr>
            <p:cNvSpPr/>
            <p:nvPr/>
          </p:nvSpPr>
          <p:spPr>
            <a:xfrm>
              <a:off x="3281459" y="5203201"/>
              <a:ext cx="184912" cy="184912"/>
            </a:xfrm>
            <a:prstGeom prst="ellipse">
              <a:avLst/>
            </a:prstGeom>
            <a:solidFill>
              <a:srgbClr val="FFE7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C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78E5EFE3-01C4-5080-29DE-D757135DC60D}"/>
                </a:ext>
              </a:extLst>
            </p:cNvPr>
            <p:cNvSpPr/>
            <p:nvPr/>
          </p:nvSpPr>
          <p:spPr>
            <a:xfrm>
              <a:off x="3281459" y="5409957"/>
              <a:ext cx="184912" cy="18491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D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B3ED1D78-857A-35AE-828B-AC4A627180DA}"/>
                </a:ext>
              </a:extLst>
            </p:cNvPr>
            <p:cNvSpPr/>
            <p:nvPr/>
          </p:nvSpPr>
          <p:spPr>
            <a:xfrm>
              <a:off x="3281459" y="5791465"/>
              <a:ext cx="184912" cy="18491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E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34B74E5B-C6EA-47C0-FEC8-C406982F628B}"/>
                </a:ext>
              </a:extLst>
            </p:cNvPr>
            <p:cNvSpPr/>
            <p:nvPr/>
          </p:nvSpPr>
          <p:spPr>
            <a:xfrm>
              <a:off x="3281459" y="6025145"/>
              <a:ext cx="184912" cy="184912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kumimoji="1" lang="en-US" altLang="ja-JP" sz="900">
                  <a:latin typeface="Verdana" panose="020B0604030504040204" pitchFamily="34" charset="0"/>
                  <a:ea typeface="Verdana" panose="020B0604030504040204" pitchFamily="34" charset="0"/>
                </a:rPr>
                <a:t>F</a:t>
              </a:r>
              <a:endParaRPr kumimoji="1" lang="ja-JP" altLang="en-US" sz="900">
                <a:latin typeface="Verdana" panose="020B0604030504040204" pitchFamily="34" charset="0"/>
              </a:endParaRPr>
            </a:p>
          </p:txBody>
        </p:sp>
      </p:grp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80D43AB-8AFA-D035-508B-815CE326D57A}"/>
              </a:ext>
            </a:extLst>
          </p:cNvPr>
          <p:cNvSpPr/>
          <p:nvPr/>
        </p:nvSpPr>
        <p:spPr>
          <a:xfrm>
            <a:off x="755374" y="1316379"/>
            <a:ext cx="666676" cy="2667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666F9D2-E403-385D-DBA3-10CC6B8640C0}"/>
              </a:ext>
            </a:extLst>
          </p:cNvPr>
          <p:cNvSpPr/>
          <p:nvPr/>
        </p:nvSpPr>
        <p:spPr>
          <a:xfrm>
            <a:off x="7911547" y="1316379"/>
            <a:ext cx="571059" cy="2667600"/>
          </a:xfrm>
          <a:prstGeom prst="roundRect">
            <a:avLst/>
          </a:prstGeom>
          <a:noFill/>
          <a:ln w="3810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1BD631F-75F1-948E-7BD0-99495D1FC2CA}"/>
              </a:ext>
            </a:extLst>
          </p:cNvPr>
          <p:cNvSpPr/>
          <p:nvPr/>
        </p:nvSpPr>
        <p:spPr>
          <a:xfrm>
            <a:off x="1460922" y="1316379"/>
            <a:ext cx="830580" cy="2667600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673A196-23D3-92C8-A69F-99FFA83987B0}"/>
              </a:ext>
            </a:extLst>
          </p:cNvPr>
          <p:cNvSpPr/>
          <p:nvPr/>
        </p:nvSpPr>
        <p:spPr>
          <a:xfrm>
            <a:off x="6231834" y="1316379"/>
            <a:ext cx="838661" cy="2667600"/>
          </a:xfrm>
          <a:prstGeom prst="roundRect">
            <a:avLst/>
          </a:prstGeom>
          <a:noFill/>
          <a:ln w="38100">
            <a:solidFill>
              <a:srgbClr val="FFE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8251C10-6F51-894A-91BA-3CFFDAC8C200}"/>
              </a:ext>
            </a:extLst>
          </p:cNvPr>
          <p:cNvSpPr/>
          <p:nvPr/>
        </p:nvSpPr>
        <p:spPr>
          <a:xfrm>
            <a:off x="8497225" y="1316379"/>
            <a:ext cx="2115123" cy="2667600"/>
          </a:xfrm>
          <a:prstGeom prst="roundRect">
            <a:avLst>
              <a:gd name="adj" fmla="val 4081"/>
            </a:avLst>
          </a:prstGeom>
          <a:noFill/>
          <a:ln w="38100">
            <a:solidFill>
              <a:srgbClr val="CC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4E4B05E-AB13-E94F-47AC-0A6EBED9E7BB}"/>
              </a:ext>
            </a:extLst>
          </p:cNvPr>
          <p:cNvSpPr/>
          <p:nvPr/>
        </p:nvSpPr>
        <p:spPr>
          <a:xfrm>
            <a:off x="7108263" y="1316379"/>
            <a:ext cx="763528" cy="2667600"/>
          </a:xfrm>
          <a:prstGeom prst="roundRect">
            <a:avLst>
              <a:gd name="adj" fmla="val 4081"/>
            </a:avLst>
          </a:prstGeom>
          <a:noFill/>
          <a:ln w="38100">
            <a:solidFill>
              <a:srgbClr val="D6009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5E7864FB-D26A-AEB3-8731-C5066EBF382C}"/>
              </a:ext>
            </a:extLst>
          </p:cNvPr>
          <p:cNvSpPr/>
          <p:nvPr/>
        </p:nvSpPr>
        <p:spPr>
          <a:xfrm>
            <a:off x="985520" y="4040588"/>
            <a:ext cx="184912" cy="1849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3BB43310-FB4A-32EA-CA6C-F32149F4F37B}"/>
              </a:ext>
            </a:extLst>
          </p:cNvPr>
          <p:cNvSpPr/>
          <p:nvPr/>
        </p:nvSpPr>
        <p:spPr>
          <a:xfrm>
            <a:off x="1760772" y="4040588"/>
            <a:ext cx="184912" cy="18491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875D91BF-37A4-127B-D62A-0F977714A7F0}"/>
              </a:ext>
            </a:extLst>
          </p:cNvPr>
          <p:cNvSpPr/>
          <p:nvPr/>
        </p:nvSpPr>
        <p:spPr>
          <a:xfrm>
            <a:off x="6511677" y="4040588"/>
            <a:ext cx="184912" cy="184912"/>
          </a:xfrm>
          <a:prstGeom prst="ellipse">
            <a:avLst/>
          </a:prstGeom>
          <a:solidFill>
            <a:srgbClr val="FFE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1CB24C7E-7AA5-A05F-B011-953461030ED8}"/>
              </a:ext>
            </a:extLst>
          </p:cNvPr>
          <p:cNvSpPr/>
          <p:nvPr/>
        </p:nvSpPr>
        <p:spPr>
          <a:xfrm>
            <a:off x="7326685" y="4040588"/>
            <a:ext cx="184912" cy="184912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38409F1C-DA7C-05BF-0B68-F62AD02BC724}"/>
              </a:ext>
            </a:extLst>
          </p:cNvPr>
          <p:cNvSpPr/>
          <p:nvPr/>
        </p:nvSpPr>
        <p:spPr>
          <a:xfrm>
            <a:off x="8062181" y="4040588"/>
            <a:ext cx="184912" cy="1849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A9FFFDD5-B78F-2A3B-64AC-B8E7448C29FC}"/>
              </a:ext>
            </a:extLst>
          </p:cNvPr>
          <p:cNvSpPr/>
          <p:nvPr/>
        </p:nvSpPr>
        <p:spPr>
          <a:xfrm>
            <a:off x="9413903" y="4040588"/>
            <a:ext cx="184912" cy="184912"/>
          </a:xfrm>
          <a:prstGeom prst="ellipse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ja-JP" sz="90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kumimoji="1" lang="ja-JP" altLang="en-US" sz="900">
              <a:latin typeface="Verdana" panose="020B060403050404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513A184-32F1-F80B-DE58-66F1BEDCAA7E}"/>
              </a:ext>
            </a:extLst>
          </p:cNvPr>
          <p:cNvSpPr txBox="1"/>
          <p:nvPr/>
        </p:nvSpPr>
        <p:spPr>
          <a:xfrm>
            <a:off x="8606438" y="5078454"/>
            <a:ext cx="337477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/>
              <a:t>※1… E</a:t>
            </a:r>
            <a:r>
              <a:rPr kumimoji="1" lang="ja-JP" altLang="en-US" sz="1100"/>
              <a:t>の税区分について。</a:t>
            </a:r>
            <a:br>
              <a:rPr kumimoji="1" lang="en-US" altLang="ja-JP" sz="1100"/>
            </a:br>
            <a:r>
              <a:rPr kumimoji="1" lang="ja-JP" altLang="en-US" sz="1100"/>
              <a:t>・</a:t>
            </a:r>
            <a:r>
              <a:rPr lang="ja-JP" altLang="en-US" sz="1100"/>
              <a:t>発行者によって、内税で表示しているところと外税で表示しているところがある。</a:t>
            </a:r>
            <a:br>
              <a:rPr lang="en-US" altLang="ja-JP" sz="1100"/>
            </a:br>
            <a:r>
              <a:rPr lang="ja-JP" altLang="en-US" sz="1100"/>
              <a:t>・税区分の記載がない領収書もある。</a:t>
            </a:r>
            <a:endParaRPr lang="en-US" altLang="ja-JP" sz="1100"/>
          </a:p>
          <a:p>
            <a:endParaRPr kumimoji="1" lang="en-US" altLang="ja-JP" sz="1100"/>
          </a:p>
          <a:p>
            <a:r>
              <a:rPr lang="en-US" altLang="ja-JP" sz="1100"/>
              <a:t>※2…</a:t>
            </a:r>
            <a:r>
              <a:rPr lang="ja-JP" altLang="en-US" sz="1100"/>
              <a:t>なお勘定科目はレシートの中で異なる科目が混在している場合がある。（例：食品と日用品）</a:t>
            </a:r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63506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378</Words>
  <Application>Microsoft Office PowerPoint</Application>
  <PresentationFormat>ワイド画面</PresentationFormat>
  <Paragraphs>124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Verdana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★</dc:creator>
  <cp:lastModifiedBy>★</cp:lastModifiedBy>
  <cp:revision>191</cp:revision>
  <dcterms:created xsi:type="dcterms:W3CDTF">2025-10-08T08:06:34Z</dcterms:created>
  <dcterms:modified xsi:type="dcterms:W3CDTF">2025-10-09T08:53:58Z</dcterms:modified>
</cp:coreProperties>
</file>